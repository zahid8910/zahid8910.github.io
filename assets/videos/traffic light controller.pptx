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8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Gelasio" panose="020B0604020202020204" charset="0"/>
      <p:regular r:id="rId15"/>
    </p:embeddedFont>
    <p:embeddedFont>
      <p:font typeface="Gelasio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60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7296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Traffic Light Control System Using 555 Timer and CD4017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394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Name: [Your Name]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Class / Section: [Your Class/Section]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Subject: Electronics Engineering Principles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0936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Teacher’s Name: [Teacher’s Name]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403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7904" y="472559"/>
            <a:ext cx="5670828" cy="53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Introduction to the System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087904" y="1267420"/>
            <a:ext cx="7940992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</a:t>
            </a:r>
            <a:r>
              <a:rPr lang="en-US" sz="1350" b="1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Traffic Light Control System</a:t>
            </a: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is an electronic circuit engineered to automatically manage traffic signals, ensuring smooth flow and enhanced road safety.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87904" y="2010251"/>
            <a:ext cx="7940992" cy="1310521"/>
          </a:xfrm>
          <a:prstGeom prst="roundRect">
            <a:avLst>
              <a:gd name="adj" fmla="val 8373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065044" y="2010251"/>
            <a:ext cx="91440" cy="1310521"/>
          </a:xfrm>
          <a:prstGeom prst="roundRect">
            <a:avLst>
              <a:gd name="adj" fmla="val 2819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51151" y="2204918"/>
            <a:ext cx="2645331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Essential for Road Safety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351151" y="2576513"/>
            <a:ext cx="7483078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Traffic lights are crucial for preventing accidents and optimising traffic flow in urban environments.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87904" y="3492579"/>
            <a:ext cx="7940992" cy="1310521"/>
          </a:xfrm>
          <a:prstGeom prst="roundRect">
            <a:avLst>
              <a:gd name="adj" fmla="val 8373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065044" y="3492579"/>
            <a:ext cx="91440" cy="1310521"/>
          </a:xfrm>
          <a:prstGeom prst="roundRect">
            <a:avLst>
              <a:gd name="adj" fmla="val 2819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51151" y="3687247"/>
            <a:ext cx="3030141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Microcontroller-Free Design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351151" y="4058841"/>
            <a:ext cx="7483078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project demonstrates a functional system using fundamental electronic components, bypassing the need for complex microcontrollers.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87904" y="4974908"/>
            <a:ext cx="7940992" cy="1310521"/>
          </a:xfrm>
          <a:prstGeom prst="roundRect">
            <a:avLst>
              <a:gd name="adj" fmla="val 8373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065044" y="4974908"/>
            <a:ext cx="91440" cy="1310521"/>
          </a:xfrm>
          <a:prstGeom prst="roundRect">
            <a:avLst>
              <a:gd name="adj" fmla="val 2819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51151" y="5169575"/>
            <a:ext cx="2777133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Sequential LED Operation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351151" y="5541169"/>
            <a:ext cx="7483078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system precisely controls the switching sequence of Red, Yellow, and Green LEDs, mimicking real-world traffic signals.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87904" y="6457236"/>
            <a:ext cx="7940992" cy="1310521"/>
          </a:xfrm>
          <a:prstGeom prst="roundRect">
            <a:avLst>
              <a:gd name="adj" fmla="val 8373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65044" y="6457236"/>
            <a:ext cx="91440" cy="1310521"/>
          </a:xfrm>
          <a:prstGeom prst="roundRect">
            <a:avLst>
              <a:gd name="adj" fmla="val 2819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51151" y="6651903"/>
            <a:ext cx="2148245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Core Components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351151" y="7023497"/>
            <a:ext cx="7483078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Timing is handled by a </a:t>
            </a:r>
            <a:r>
              <a:rPr lang="en-US" sz="1350" b="1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555 timer IC</a:t>
            </a: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while the </a:t>
            </a:r>
            <a:r>
              <a:rPr lang="en-US" sz="1350" b="1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CD4017 decade counter</a:t>
            </a: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orchestrates the LED sequence.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330" y="745331"/>
            <a:ext cx="6263402" cy="65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Objectives of the Project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149" y="1723549"/>
            <a:ext cx="315039" cy="3150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8034" y="1717000"/>
            <a:ext cx="5075515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Automatic Traffic Light Control System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1418034" y="2171224"/>
            <a:ext cx="6990636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primary goal is to engineer a reliable and fully automated traffic light control system.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149" y="3270409"/>
            <a:ext cx="315039" cy="3150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18034" y="3263860"/>
            <a:ext cx="5146000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Understanding 555 Timer Astable Mode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418034" y="3718084"/>
            <a:ext cx="6990636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 gain in-depth knowledge of how the versatile 555 timer operates in its astable configuration, generating continuous pulses.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149" y="4817269"/>
            <a:ext cx="315039" cy="3150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18034" y="4810720"/>
            <a:ext cx="4476631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Exploring CD4017 Decade Counter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1418034" y="5264944"/>
            <a:ext cx="6990636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 thoroughly investigate and comprehend the operational principles of the CD4017 decade counter, a key component in sequential logic.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149" y="6364129"/>
            <a:ext cx="315039" cy="3150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8034" y="6357580"/>
            <a:ext cx="3920133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Simulating Real-World Traffic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418034" y="6811804"/>
            <a:ext cx="6990636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 accurately simulate the dynamic behaviour of traffic signals using light-emitting diodes (LEDs) for visual feedback.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746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Essential Components Required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63235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Building this traffic light system requires a selection of readily available electronic parts.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81738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Solderless Breadboard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25958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555 Timer IC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70177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CD4017 Decade Counter IC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14397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100kΩ Variable Resistor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58617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100Ω Resistors × 3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602837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1kΩ Resistor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80190" y="647057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10kΩ Resistor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381738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100µF Capacitors × 2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425958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 LED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342721" y="470177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Yellow LED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342721" y="514397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Green LED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342721" y="558617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Blue LED (indicator)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0342721" y="602837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1N4148 Diodes × 11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0342721" y="647057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1N4007 Diode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0342721" y="691276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9V Battery and Battery Clip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5193" y="467558"/>
            <a:ext cx="7953613" cy="106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Working Principle: The Heart of the System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95193" y="1785342"/>
            <a:ext cx="7953613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system harnesses the power of sequential logic to mimic real traffic patterns.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82548" y="2185392"/>
            <a:ext cx="680204" cy="1251466"/>
          </a:xfrm>
          <a:prstGeom prst="roundRect">
            <a:avLst>
              <a:gd name="adj" fmla="val 360011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6865" y="2812949"/>
            <a:ext cx="25503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45419" y="2418517"/>
            <a:ext cx="2992041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555 Timer: Pulse Generation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445419" y="2786062"/>
            <a:ext cx="5363005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</a:t>
            </a:r>
            <a:r>
              <a:rPr lang="en-US" sz="1300" b="1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555 timer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is configured as an astable multivibrator, producing a continuous stream of ON–OFF clock pulses.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2830" y="3606880"/>
            <a:ext cx="680204" cy="1251466"/>
          </a:xfrm>
          <a:prstGeom prst="roundRect">
            <a:avLst>
              <a:gd name="adj" fmla="val 360011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7046" y="4091940"/>
            <a:ext cx="25503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45419" y="3840004"/>
            <a:ext cx="2128361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Feeding the Counter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445419" y="4207550"/>
            <a:ext cx="5616393" cy="66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These precisely timed pulses are then directed to the input of the </a:t>
            </a:r>
            <a:r>
              <a:rPr lang="en-US" sz="1300" b="1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CD4017 decade counter IC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0169" y="5059918"/>
            <a:ext cx="680204" cy="1251466"/>
          </a:xfrm>
          <a:prstGeom prst="roundRect">
            <a:avLst>
              <a:gd name="adj" fmla="val 360011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6865" y="5557718"/>
            <a:ext cx="25503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45419" y="5261491"/>
            <a:ext cx="3177897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CD4017: Sequential Activation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445419" y="5629037"/>
            <a:ext cx="5702398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CD4017 sequentially activates its output pins, one after another, in response to each incoming clock pulse.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82548" y="6542969"/>
            <a:ext cx="680204" cy="1251466"/>
          </a:xfrm>
          <a:prstGeom prst="roundRect">
            <a:avLst>
              <a:gd name="adj" fmla="val 360011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6865" y="6979206"/>
            <a:ext cx="25503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45419" y="6682978"/>
            <a:ext cx="2904768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LED Sequence: Traffic Flow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445419" y="7050524"/>
            <a:ext cx="5441648" cy="40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LEDs connected to these outputs illuminate in a predefined order: </a:t>
            </a:r>
            <a:r>
              <a:rPr lang="en-US" sz="1300" b="1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 → Yellow → Green → Yellow → Red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replicating a standard traffic light cycle.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007"/>
            <a:ext cx="72444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Role of Main Components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791414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1982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555 Timer IC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2473166"/>
            <a:ext cx="319468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heart of the timing mechanism, responsible for generating precise and continuous clock pulses essential for sequential operation.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1791414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823" y="1982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CD4017 IC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99823" y="2473166"/>
            <a:ext cx="31946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CMOS decade counter that distributes incoming pulses sequentially to its ten output pins, controlling the LED illumination order.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1791414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41925" y="1982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Diodes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641925" y="2473166"/>
            <a:ext cx="31946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Crucial for circuit protection, preventing reverse current flow and isolating different output paths to ensure correct LED behaviour.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104209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57720" y="5295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Resistors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757720" y="5785961"/>
            <a:ext cx="31946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Used to limit the current flowing through LEDs and ICs, safeguarding them from damage due to excessive voltage or current.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5104209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9823" y="5295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Capacitors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199823" y="5785961"/>
            <a:ext cx="31946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These components play a vital role in setting the timing intervals for the 555 timer and smoothing out voltage fluctuations within the circuit.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245" y="692348"/>
            <a:ext cx="7895511" cy="111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Hardware Implementation: Bringing the Design to Life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4245" y="2074783"/>
            <a:ext cx="789551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Following successful simulation, the theoretical design was translated into a tangible circuit.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4245" y="2828211"/>
            <a:ext cx="3858578" cy="2173843"/>
          </a:xfrm>
          <a:prstGeom prst="roundRect">
            <a:avLst>
              <a:gd name="adj" fmla="val 5048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4245" y="2805351"/>
            <a:ext cx="3858578" cy="91440"/>
          </a:xfrm>
          <a:prstGeom prst="roundRect">
            <a:avLst>
              <a:gd name="adj" fmla="val 2926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0" y="2560677"/>
            <a:ext cx="535067" cy="535067"/>
          </a:xfrm>
          <a:prstGeom prst="roundRect">
            <a:avLst>
              <a:gd name="adj" fmla="val 170894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446496" y="2694384"/>
            <a:ext cx="213955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5460" y="3274100"/>
            <a:ext cx="241649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Breadboard Assembly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5460" y="3659743"/>
            <a:ext cx="3456146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circuit components were carefully assembled and interconnected on a solderless breadboard, allowing for easy modifications.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1178" y="2828211"/>
            <a:ext cx="3858578" cy="2173843"/>
          </a:xfrm>
          <a:prstGeom prst="roundRect">
            <a:avLst>
              <a:gd name="adj" fmla="val 5048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1178" y="2805351"/>
            <a:ext cx="3858578" cy="91440"/>
          </a:xfrm>
          <a:prstGeom prst="roundRect">
            <a:avLst>
              <a:gd name="adj" fmla="val 2926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22933" y="2560677"/>
            <a:ext cx="535067" cy="535067"/>
          </a:xfrm>
          <a:prstGeom prst="roundRect">
            <a:avLst>
              <a:gd name="adj" fmla="val 170894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83429" y="2694384"/>
            <a:ext cx="213955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862393" y="3274100"/>
            <a:ext cx="3005971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Circuit Diagram Adherence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62393" y="3659743"/>
            <a:ext cx="3456146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component was placed and wired precisely according to the detailed circuit schematic, ensuring correct electrical connections.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4245" y="5447943"/>
            <a:ext cx="7895511" cy="1603296"/>
          </a:xfrm>
          <a:prstGeom prst="roundRect">
            <a:avLst>
              <a:gd name="adj" fmla="val 6844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4245" y="5425083"/>
            <a:ext cx="7895511" cy="91440"/>
          </a:xfrm>
          <a:prstGeom prst="roundRect">
            <a:avLst>
              <a:gd name="adj" fmla="val 2926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04467" y="5180409"/>
            <a:ext cx="535067" cy="535067"/>
          </a:xfrm>
          <a:prstGeom prst="roundRect">
            <a:avLst>
              <a:gd name="adj" fmla="val 170894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464963" y="5314117"/>
            <a:ext cx="213955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25460" y="5893832"/>
            <a:ext cx="2478524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Real-World Validation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825460" y="6279475"/>
            <a:ext cx="749307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Upon power-up, the physical circuit demonstrated the exact same LED sequencing behaviour observed during the simulation phase.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4245" y="7251859"/>
            <a:ext cx="789551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_(A high-resolution photograph of the actual project would be inserted here.)_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1155" y="682823"/>
            <a:ext cx="7801689" cy="11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Precision : Simulation and Advanced Materials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71155" y="2168843"/>
            <a:ext cx="7801689" cy="61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is the simulation in 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 showcase the system of Traffic lights 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71155" y="2998113"/>
            <a:ext cx="3804999" cy="2485311"/>
          </a:xfrm>
          <a:prstGeom prst="roundRect">
            <a:avLst>
              <a:gd name="adj" fmla="val 115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2846" y="3189803"/>
            <a:ext cx="575191" cy="575191"/>
          </a:xfrm>
          <a:prstGeom prst="roundRect">
            <a:avLst>
              <a:gd name="adj" fmla="val 1589573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961" y="3347918"/>
            <a:ext cx="258842" cy="258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2846" y="3956685"/>
            <a:ext cx="2396966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Optimised Design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862846" y="4371261"/>
            <a:ext cx="3421618" cy="92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Leveraging simulations to refine product designs for superior performance and efficiency.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667845" y="2998113"/>
            <a:ext cx="3804999" cy="2485311"/>
          </a:xfrm>
          <a:prstGeom prst="roundRect">
            <a:avLst>
              <a:gd name="adj" fmla="val 115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59536" y="3189803"/>
            <a:ext cx="575191" cy="575191"/>
          </a:xfrm>
          <a:prstGeom prst="roundRect">
            <a:avLst>
              <a:gd name="adj" fmla="val 1589573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17651" y="3347918"/>
            <a:ext cx="258842" cy="258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59536" y="3956685"/>
            <a:ext cx="2396966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Material Innovation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4859536" y="4371261"/>
            <a:ext cx="3421618" cy="92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Exploring the integration of novel materials with bespoke properties for specific applications.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71155" y="5675114"/>
            <a:ext cx="7801689" cy="1871663"/>
          </a:xfrm>
          <a:prstGeom prst="roundRect">
            <a:avLst>
              <a:gd name="adj" fmla="val 153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62846" y="5866805"/>
            <a:ext cx="575191" cy="575191"/>
          </a:xfrm>
          <a:prstGeom prst="roundRect">
            <a:avLst>
              <a:gd name="adj" fmla="val 1589573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0961" y="6024920"/>
            <a:ext cx="258842" cy="258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2846" y="6633686"/>
            <a:ext cx="2457212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Enhanced Reliability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862846" y="7048262"/>
            <a:ext cx="7418308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Reducing failure rates and extending product lifecycles through rigorous virtual testing.</a:t>
            </a:r>
            <a:endParaRPr lang="en-US" sz="1500" dirty="0"/>
          </a:p>
        </p:txBody>
      </p:sp>
      <p:pic>
        <p:nvPicPr>
          <p:cNvPr id="20" name="MicrosoftTeams-video">
            <a:hlinkClick r:id="" action="ppaction://media"/>
            <a:extLst>
              <a:ext uri="{FF2B5EF4-FFF2-40B4-BE49-F238E27FC236}">
                <a16:creationId xmlns:a16="http://schemas.microsoft.com/office/drawing/2014/main" id="{D6DB1FC0-DC77-3379-DC43-C478BA9747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472844" y="-242030"/>
            <a:ext cx="5975030" cy="336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267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4055"/>
            <a:ext cx="11232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Output and Results: Observing the Cycle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64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implemented traffic light system delivered clear and predictable results, mirroring real-world signal operation.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945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149560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2918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Red LED Illuminates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81428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Initially, the Red LED lights up, signifying 'Stop' for the main traffic flow.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27945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149560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6962" y="3323868"/>
            <a:ext cx="31677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Yellow LED Transition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3814286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Yellow LED briefly glows, indicating an impending change from Red to Green or Green to Red.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27945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149560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40133" y="3323868"/>
            <a:ext cx="35859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Green LED for Movement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381428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Green LED turns ON, signalling 'Go' and allowing traffic to proceed.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2998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54873"/>
            <a:ext cx="6407944" cy="3048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29952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Automatic Repetition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31959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sequence of Red, Yellow, Green, and Yellow repeats seamlessly, ensuring continuous traffic management.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2998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654873"/>
            <a:ext cx="6407944" cy="3048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Adjustable Timing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28548" y="631959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duration of each light phase can be precisely fine-tuned by adjusting the 100kΩ variable resistor.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898"/>
            <a:ext cx="72173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Advantages of Our Design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593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project offers several compelling benefits, particularly for educational and basic application scenarios.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77358"/>
            <a:ext cx="4196358" cy="2395657"/>
          </a:xfrm>
          <a:prstGeom prst="roundRect">
            <a:avLst>
              <a:gd name="adj" fmla="val 2272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0604" y="2904173"/>
            <a:ext cx="32754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Simple &amp; Cost-Effective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39459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design is straightforward to implement and utilises readily available, inexpensive electronic components.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677358"/>
            <a:ext cx="4196358" cy="2395657"/>
          </a:xfrm>
          <a:prstGeom prst="roundRect">
            <a:avLst>
              <a:gd name="adj" fmla="val 2272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43776" y="2904173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 Microcontroller Needed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374892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Achieves automatic control without complex programming, relying solely on analogue and digital logic ICs.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677358"/>
            <a:ext cx="4196358" cy="2395657"/>
          </a:xfrm>
          <a:prstGeom prst="roundRect">
            <a:avLst>
              <a:gd name="adj" fmla="val 2272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66948" y="29041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Easy to Understand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339459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circuit's operation is transparent, making it an excellent learning tool for foundational electronics concepts.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299829"/>
            <a:ext cx="6407944" cy="2032754"/>
          </a:xfrm>
          <a:prstGeom prst="roundRect">
            <a:avLst>
              <a:gd name="adj" fmla="val 26781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0604" y="5526643"/>
            <a:ext cx="35335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Ideal Educational Project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0604" y="6017062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Perfect for beginners in electronics, providing hands-on experience with fundamental components and circuit design.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299829"/>
            <a:ext cx="6407944" cy="2032754"/>
          </a:xfrm>
          <a:prstGeom prst="roundRect">
            <a:avLst>
              <a:gd name="adj" fmla="val 26781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55362" y="5526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Adjustable Timing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55362" y="6017062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Offers flexibility to modify the duration of each traffic light phase, allowing for customisation and experimentation.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920" y="710684"/>
            <a:ext cx="5379958" cy="621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Real Life Applications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453" y="1636514"/>
            <a:ext cx="298252" cy="2982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42192" y="1630442"/>
            <a:ext cx="3105507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Smart Cities Infrastructure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342192" y="2371249"/>
            <a:ext cx="3105507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Optimizing traffic flow, managing public services, and enhancing urban planning through data collection and analysis.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715" y="1636514"/>
            <a:ext cx="298252" cy="2982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42453" y="1630442"/>
            <a:ext cx="3105626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Advanced Manufacturing &amp; Robotics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5342453" y="2371249"/>
            <a:ext cx="3105626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Automating production lines, predictive maintenance, and quality control in industrial settings to boost efficiency.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453" y="4047530"/>
            <a:ext cx="298252" cy="2982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42192" y="4041458"/>
            <a:ext cx="3105507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Healthcare &amp; Medical Diagnostics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342192" y="4782264"/>
            <a:ext cx="3105507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Assisting in real-time patient monitoring, accelerating disease diagnosis, and personalizing treatment plans.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715" y="4047530"/>
            <a:ext cx="298252" cy="2982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42453" y="4041458"/>
            <a:ext cx="3105626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Environmental Monitoring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5342453" y="4782264"/>
            <a:ext cx="3105626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Tracking air and water quality, climate patterns, and wildlife to support conservation efforts and disaster prediction.</a:t>
            </a:r>
            <a:endParaRPr lang="en-US" sz="15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453" y="6458545"/>
            <a:ext cx="298252" cy="29825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42192" y="6452473"/>
            <a:ext cx="4064794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Autonomous Vehicles &amp; Logistics</a:t>
            </a:r>
            <a:endParaRPr lang="en-US" sz="1950" dirty="0"/>
          </a:p>
        </p:txBody>
      </p:sp>
      <p:sp>
        <p:nvSpPr>
          <p:cNvPr id="18" name="Text 10"/>
          <p:cNvSpPr/>
          <p:nvPr/>
        </p:nvSpPr>
        <p:spPr>
          <a:xfrm>
            <a:off x="1342192" y="6882527"/>
            <a:ext cx="7105888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Enabling self-driving cars, optimizing delivery routes, and managing complex supply chains efficiently.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41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Limitations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36513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3536513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3793808"/>
            <a:ext cx="3572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Fixed sequence operation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548" y="3536513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98067" y="3536513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7282" y="3793808"/>
            <a:ext cx="39456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Cannot detect traffic density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632246"/>
            <a:ext cx="6407944" cy="1223248"/>
          </a:xfrm>
          <a:prstGeom prst="roundRect">
            <a:avLst>
              <a:gd name="adj" fmla="val 11960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3310" y="4632246"/>
            <a:ext cx="121920" cy="122324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2524" y="4889540"/>
            <a:ext cx="50057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Manual timing adjustment required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28548" y="4632246"/>
            <a:ext cx="6408063" cy="1223248"/>
          </a:xfrm>
          <a:prstGeom prst="roundRect">
            <a:avLst>
              <a:gd name="adj" fmla="val 11960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98067" y="4632246"/>
            <a:ext cx="121920" cy="122324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7282" y="4889540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Suitable mainly for small-scale demonstration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1096</Words>
  <Application>Microsoft Office PowerPoint</Application>
  <PresentationFormat>Custom</PresentationFormat>
  <Paragraphs>144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Gelasio Semi Bold</vt:lpstr>
      <vt:lpstr>Gelasio</vt:lpstr>
      <vt:lpstr>Gelasio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RAFIQUL SAMIR AHSAN</cp:lastModifiedBy>
  <cp:revision>3</cp:revision>
  <dcterms:created xsi:type="dcterms:W3CDTF">2026-01-04T16:23:23Z</dcterms:created>
  <dcterms:modified xsi:type="dcterms:W3CDTF">2026-01-04T16:57:16Z</dcterms:modified>
</cp:coreProperties>
</file>