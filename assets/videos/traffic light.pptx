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6858000" cy="9144000"/>
  <p:embeddedFontLst>
    <p:embeddedFont>
      <p:font typeface="Raleway"/>
      <p:regular r:id="rId27"/>
      <p:bold r:id="rId28"/>
      <p:italic r:id="rId29"/>
      <p:boldItalic r:id="rId30"/>
    </p:embeddedFont>
    <p:embeddedFont>
      <p:font typeface="Raleway ExtraBold"/>
      <p:bold r:id="rId31"/>
      <p:boldItalic r:id="rId32"/>
    </p:embeddedFont>
    <p:embeddedFont>
      <p:font typeface="Raleway Medium"/>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gqO6demqiBr7X0VmgHrJxMNCxF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aleway-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ExtraBold-bold.fntdata"/><Relationship Id="rId30" Type="http://schemas.openxmlformats.org/officeDocument/2006/relationships/font" Target="fonts/Raleway-boldItalic.fntdata"/><Relationship Id="rId11" Type="http://schemas.openxmlformats.org/officeDocument/2006/relationships/slide" Target="slides/slide7.xml"/><Relationship Id="rId33" Type="http://schemas.openxmlformats.org/officeDocument/2006/relationships/font" Target="fonts/RalewayMedium-regular.fntdata"/><Relationship Id="rId10" Type="http://schemas.openxmlformats.org/officeDocument/2006/relationships/slide" Target="slides/slide6.xml"/><Relationship Id="rId32" Type="http://schemas.openxmlformats.org/officeDocument/2006/relationships/font" Target="fonts/RalewayExtraBold-boldItalic.fntdata"/><Relationship Id="rId13" Type="http://schemas.openxmlformats.org/officeDocument/2006/relationships/slide" Target="slides/slide9.xml"/><Relationship Id="rId35" Type="http://schemas.openxmlformats.org/officeDocument/2006/relationships/font" Target="fonts/RalewayMedium-italic.fntdata"/><Relationship Id="rId12" Type="http://schemas.openxmlformats.org/officeDocument/2006/relationships/slide" Target="slides/slide8.xml"/><Relationship Id="rId34" Type="http://schemas.openxmlformats.org/officeDocument/2006/relationships/font" Target="fonts/RalewayMedium-bold.fntdata"/><Relationship Id="rId15" Type="http://schemas.openxmlformats.org/officeDocument/2006/relationships/slide" Target="slides/slide11.xml"/><Relationship Id="rId37" Type="http://schemas.openxmlformats.org/officeDocument/2006/relationships/font" Target="fonts/OpenSans-regular.fntdata"/><Relationship Id="rId14" Type="http://schemas.openxmlformats.org/officeDocument/2006/relationships/slide" Target="slides/slide10.xml"/><Relationship Id="rId36" Type="http://schemas.openxmlformats.org/officeDocument/2006/relationships/font" Target="fonts/RalewayMedium-boldItalic.fntdata"/><Relationship Id="rId17" Type="http://schemas.openxmlformats.org/officeDocument/2006/relationships/slide" Target="slides/slide13.xml"/><Relationship Id="rId39" Type="http://schemas.openxmlformats.org/officeDocument/2006/relationships/font" Target="fonts/OpenSans-italic.fntdata"/><Relationship Id="rId16" Type="http://schemas.openxmlformats.org/officeDocument/2006/relationships/slide" Target="slides/slide12.xml"/><Relationship Id="rId38" Type="http://schemas.openxmlformats.org/officeDocument/2006/relationships/font" Target="fonts/OpenSa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4"/>
          <p:cNvSpPr txBox="1"/>
          <p:nvPr>
            <p:ph type="ctrTitle"/>
          </p:nvPr>
        </p:nvSpPr>
        <p:spPr>
          <a:xfrm>
            <a:off x="713225" y="1506650"/>
            <a:ext cx="6651600" cy="1562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24"/>
          <p:cNvSpPr txBox="1"/>
          <p:nvPr>
            <p:ph idx="1" type="subTitle"/>
          </p:nvPr>
        </p:nvSpPr>
        <p:spPr>
          <a:xfrm>
            <a:off x="713225" y="3449750"/>
            <a:ext cx="3926400" cy="414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1" name="Shape 11"/>
        <p:cNvGrpSpPr/>
        <p:nvPr/>
      </p:nvGrpSpPr>
      <p:grpSpPr>
        <a:xfrm>
          <a:off x="0" y="0"/>
          <a:ext cx="0" cy="0"/>
          <a:chOff x="0" y="0"/>
          <a:chExt cx="0" cy="0"/>
        </a:xfrm>
      </p:grpSpPr>
      <p:sp>
        <p:nvSpPr>
          <p:cNvPr id="12" name="Google Shape;12;p25"/>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 name="Google Shape;13;p25"/>
          <p:cNvSpPr txBox="1"/>
          <p:nvPr>
            <p:ph idx="2" type="title"/>
          </p:nvPr>
        </p:nvSpPr>
        <p:spPr>
          <a:xfrm>
            <a:off x="720000" y="1615673"/>
            <a:ext cx="734700" cy="7314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 name="Google Shape;14;p25"/>
          <p:cNvSpPr txBox="1"/>
          <p:nvPr>
            <p:ph idx="3" type="title"/>
          </p:nvPr>
        </p:nvSpPr>
        <p:spPr>
          <a:xfrm>
            <a:off x="4572000" y="1615673"/>
            <a:ext cx="734700" cy="7314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 name="Google Shape;15;p25"/>
          <p:cNvSpPr txBox="1"/>
          <p:nvPr>
            <p:ph idx="4" type="title"/>
          </p:nvPr>
        </p:nvSpPr>
        <p:spPr>
          <a:xfrm>
            <a:off x="720000" y="2706036"/>
            <a:ext cx="734700" cy="7314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 name="Google Shape;16;p25"/>
          <p:cNvSpPr txBox="1"/>
          <p:nvPr>
            <p:ph idx="5" type="title"/>
          </p:nvPr>
        </p:nvSpPr>
        <p:spPr>
          <a:xfrm>
            <a:off x="4572000" y="2706036"/>
            <a:ext cx="734700" cy="7314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 name="Google Shape;17;p25"/>
          <p:cNvSpPr txBox="1"/>
          <p:nvPr>
            <p:ph idx="6" type="title"/>
          </p:nvPr>
        </p:nvSpPr>
        <p:spPr>
          <a:xfrm>
            <a:off x="720000" y="3796398"/>
            <a:ext cx="734700" cy="7314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 name="Google Shape;18;p25"/>
          <p:cNvSpPr txBox="1"/>
          <p:nvPr>
            <p:ph idx="7" type="title"/>
          </p:nvPr>
        </p:nvSpPr>
        <p:spPr>
          <a:xfrm>
            <a:off x="4572000" y="3796398"/>
            <a:ext cx="734700" cy="731400"/>
          </a:xfrm>
          <a:prstGeom prst="rect">
            <a:avLst/>
          </a:prstGeom>
          <a:solidFill>
            <a:schemeClr val="dk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9" name="Google Shape;19;p25"/>
          <p:cNvSpPr txBox="1"/>
          <p:nvPr>
            <p:ph idx="1" type="subTitle"/>
          </p:nvPr>
        </p:nvSpPr>
        <p:spPr>
          <a:xfrm>
            <a:off x="1607100" y="1762373"/>
            <a:ext cx="2532000" cy="43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 name="Google Shape;20;p25"/>
          <p:cNvSpPr txBox="1"/>
          <p:nvPr>
            <p:ph idx="8" type="subTitle"/>
          </p:nvPr>
        </p:nvSpPr>
        <p:spPr>
          <a:xfrm>
            <a:off x="1607100" y="2852736"/>
            <a:ext cx="2532000" cy="43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 name="Google Shape;21;p25"/>
          <p:cNvSpPr txBox="1"/>
          <p:nvPr>
            <p:ph idx="9" type="subTitle"/>
          </p:nvPr>
        </p:nvSpPr>
        <p:spPr>
          <a:xfrm>
            <a:off x="1607100" y="3943098"/>
            <a:ext cx="2532000" cy="43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 name="Google Shape;22;p25"/>
          <p:cNvSpPr txBox="1"/>
          <p:nvPr>
            <p:ph idx="13" type="subTitle"/>
          </p:nvPr>
        </p:nvSpPr>
        <p:spPr>
          <a:xfrm>
            <a:off x="5459100" y="1762373"/>
            <a:ext cx="2532000" cy="43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 name="Google Shape;23;p25"/>
          <p:cNvSpPr txBox="1"/>
          <p:nvPr>
            <p:ph idx="14" type="subTitle"/>
          </p:nvPr>
        </p:nvSpPr>
        <p:spPr>
          <a:xfrm>
            <a:off x="5459100" y="2852736"/>
            <a:ext cx="2532000" cy="43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 name="Google Shape;24;p25"/>
          <p:cNvSpPr txBox="1"/>
          <p:nvPr>
            <p:ph idx="15" type="subTitle"/>
          </p:nvPr>
        </p:nvSpPr>
        <p:spPr>
          <a:xfrm>
            <a:off x="5459100" y="3943098"/>
            <a:ext cx="2532000" cy="438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5" name="Google Shape;25;p25"/>
          <p:cNvGrpSpPr/>
          <p:nvPr/>
        </p:nvGrpSpPr>
        <p:grpSpPr>
          <a:xfrm>
            <a:off x="8424000" y="-4125"/>
            <a:ext cx="720300" cy="5143600"/>
            <a:chOff x="8424000" y="-4125"/>
            <a:chExt cx="720300" cy="5143600"/>
          </a:xfrm>
        </p:grpSpPr>
        <p:grpSp>
          <p:nvGrpSpPr>
            <p:cNvPr id="26" name="Google Shape;26;p25"/>
            <p:cNvGrpSpPr/>
            <p:nvPr/>
          </p:nvGrpSpPr>
          <p:grpSpPr>
            <a:xfrm>
              <a:off x="8584500" y="-4125"/>
              <a:ext cx="559800" cy="5143600"/>
              <a:chOff x="8584500" y="-4125"/>
              <a:chExt cx="559800" cy="5143600"/>
            </a:xfrm>
          </p:grpSpPr>
          <p:sp>
            <p:nvSpPr>
              <p:cNvPr id="27" name="Google Shape;27;p25"/>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8" name="Google Shape;28;p25"/>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9" name="Google Shape;29;p25"/>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30" name="Google Shape;30;p25"/>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31" name="Google Shape;31;p2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26"/>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4" name="Google Shape;34;p26"/>
          <p:cNvSpPr txBox="1"/>
          <p:nvPr>
            <p:ph idx="1" type="subTitle"/>
          </p:nvPr>
        </p:nvSpPr>
        <p:spPr>
          <a:xfrm>
            <a:off x="1628225" y="3279925"/>
            <a:ext cx="6267600" cy="70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5" name="Google Shape;35;p26"/>
          <p:cNvSpPr txBox="1"/>
          <p:nvPr>
            <p:ph idx="2" type="subTitle"/>
          </p:nvPr>
        </p:nvSpPr>
        <p:spPr>
          <a:xfrm>
            <a:off x="1628225" y="1845299"/>
            <a:ext cx="6267600" cy="70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6" name="Google Shape;36;p26"/>
          <p:cNvSpPr txBox="1"/>
          <p:nvPr>
            <p:ph idx="3" type="subTitle"/>
          </p:nvPr>
        </p:nvSpPr>
        <p:spPr>
          <a:xfrm>
            <a:off x="1628225" y="1588175"/>
            <a:ext cx="6267600" cy="35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 name="Google Shape;37;p26"/>
          <p:cNvSpPr txBox="1"/>
          <p:nvPr>
            <p:ph idx="4" type="subTitle"/>
          </p:nvPr>
        </p:nvSpPr>
        <p:spPr>
          <a:xfrm>
            <a:off x="1628225" y="3022850"/>
            <a:ext cx="6267600" cy="35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8" name="Google Shape;38;p26"/>
          <p:cNvGrpSpPr/>
          <p:nvPr/>
        </p:nvGrpSpPr>
        <p:grpSpPr>
          <a:xfrm>
            <a:off x="0" y="4661988"/>
            <a:ext cx="9144000" cy="481512"/>
            <a:chOff x="0" y="4661988"/>
            <a:chExt cx="9144000" cy="481512"/>
          </a:xfrm>
        </p:grpSpPr>
        <p:sp>
          <p:nvSpPr>
            <p:cNvPr id="39" name="Google Shape;39;p26"/>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40" name="Google Shape;40;p26"/>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41" name="Google Shape;41;p26"/>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42" name="Google Shape;42;p2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7"/>
          <p:cNvSpPr/>
          <p:nvPr>
            <p:ph idx="2" type="pic"/>
          </p:nvPr>
        </p:nvSpPr>
        <p:spPr>
          <a:xfrm>
            <a:off x="0" y="0"/>
            <a:ext cx="9144000" cy="5143500"/>
          </a:xfrm>
          <a:prstGeom prst="rect">
            <a:avLst/>
          </a:prstGeom>
          <a:noFill/>
          <a:ln>
            <a:noFill/>
          </a:ln>
        </p:spPr>
      </p:sp>
      <p:sp>
        <p:nvSpPr>
          <p:cNvPr id="45" name="Google Shape;45;p27"/>
          <p:cNvSpPr txBox="1"/>
          <p:nvPr>
            <p:ph type="title"/>
          </p:nvPr>
        </p:nvSpPr>
        <p:spPr>
          <a:xfrm>
            <a:off x="720000" y="4014450"/>
            <a:ext cx="7704000" cy="572700"/>
          </a:xfrm>
          <a:prstGeom prst="rect">
            <a:avLst/>
          </a:prstGeom>
          <a:solidFill>
            <a:schemeClr val="accen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solidFill>
                  <a:schemeClr val="lt1"/>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6" name="Shape 46"/>
        <p:cNvGrpSpPr/>
        <p:nvPr/>
      </p:nvGrpSpPr>
      <p:grpSpPr>
        <a:xfrm>
          <a:off x="0" y="0"/>
          <a:ext cx="0" cy="0"/>
          <a:chOff x="0" y="0"/>
          <a:chExt cx="0" cy="0"/>
        </a:xfrm>
      </p:grpSpPr>
      <p:grpSp>
        <p:nvGrpSpPr>
          <p:cNvPr id="47" name="Google Shape;47;p28"/>
          <p:cNvGrpSpPr/>
          <p:nvPr/>
        </p:nvGrpSpPr>
        <p:grpSpPr>
          <a:xfrm>
            <a:off x="335" y="2150"/>
            <a:ext cx="713300" cy="5139225"/>
            <a:chOff x="7468800" y="0"/>
            <a:chExt cx="1675200" cy="5139225"/>
          </a:xfrm>
        </p:grpSpPr>
        <p:sp>
          <p:nvSpPr>
            <p:cNvPr id="48" name="Google Shape;48;p28"/>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49" name="Google Shape;49;p28"/>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0" name="Google Shape;50;p28"/>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1" name="Google Shape;51;p28"/>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2" name="Google Shape;52;p28"/>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3" name="Google Shape;53;p28"/>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4" name="Google Shape;54;p28"/>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5" name="Shape 55"/>
        <p:cNvGrpSpPr/>
        <p:nvPr/>
      </p:nvGrpSpPr>
      <p:grpSpPr>
        <a:xfrm>
          <a:off x="0" y="0"/>
          <a:ext cx="0" cy="0"/>
          <a:chOff x="0" y="0"/>
          <a:chExt cx="0" cy="0"/>
        </a:xfrm>
      </p:grpSpPr>
      <p:grpSp>
        <p:nvGrpSpPr>
          <p:cNvPr id="56" name="Google Shape;56;p29"/>
          <p:cNvGrpSpPr/>
          <p:nvPr/>
        </p:nvGrpSpPr>
        <p:grpSpPr>
          <a:xfrm>
            <a:off x="0" y="0"/>
            <a:ext cx="9143875" cy="5143500"/>
            <a:chOff x="0" y="0"/>
            <a:chExt cx="9143875" cy="5143500"/>
          </a:xfrm>
        </p:grpSpPr>
        <p:sp>
          <p:nvSpPr>
            <p:cNvPr id="57" name="Google Shape;57;p29"/>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8" name="Google Shape;58;p29"/>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59" name="Google Shape;59;p29"/>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60" name="Google Shape;60;p29"/>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61" name="Google Shape;61;p29"/>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62" name="Google Shape;62;p2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63" name="Shape 6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4" name="Shape 64"/>
        <p:cNvGrpSpPr/>
        <p:nvPr/>
      </p:nvGrpSpPr>
      <p:grpSpPr>
        <a:xfrm>
          <a:off x="0" y="0"/>
          <a:ext cx="0" cy="0"/>
          <a:chOff x="0" y="0"/>
          <a:chExt cx="0" cy="0"/>
        </a:xfrm>
      </p:grpSpPr>
      <p:sp>
        <p:nvSpPr>
          <p:cNvPr id="65" name="Google Shape;65;p31"/>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66" name="Google Shape;66;p31"/>
          <p:cNvGrpSpPr/>
          <p:nvPr/>
        </p:nvGrpSpPr>
        <p:grpSpPr>
          <a:xfrm>
            <a:off x="8424000" y="-4125"/>
            <a:ext cx="720300" cy="5143600"/>
            <a:chOff x="8424000" y="-4125"/>
            <a:chExt cx="720300" cy="5143600"/>
          </a:xfrm>
        </p:grpSpPr>
        <p:grpSp>
          <p:nvGrpSpPr>
            <p:cNvPr id="67" name="Google Shape;67;p31"/>
            <p:cNvGrpSpPr/>
            <p:nvPr/>
          </p:nvGrpSpPr>
          <p:grpSpPr>
            <a:xfrm>
              <a:off x="8584500" y="-4125"/>
              <a:ext cx="559800" cy="5143600"/>
              <a:chOff x="8584500" y="-4125"/>
              <a:chExt cx="559800" cy="5143600"/>
            </a:xfrm>
          </p:grpSpPr>
          <p:sp>
            <p:nvSpPr>
              <p:cNvPr id="68" name="Google Shape;68;p31"/>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69" name="Google Shape;69;p31"/>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70" name="Google Shape;70;p31"/>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71" name="Google Shape;71;p31"/>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72" name="Google Shape;72;p3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3" name="Shape 73"/>
        <p:cNvGrpSpPr/>
        <p:nvPr/>
      </p:nvGrpSpPr>
      <p:grpSpPr>
        <a:xfrm>
          <a:off x="0" y="0"/>
          <a:ext cx="0" cy="0"/>
          <a:chOff x="0" y="0"/>
          <a:chExt cx="0" cy="0"/>
        </a:xfrm>
      </p:grpSpPr>
      <p:sp>
        <p:nvSpPr>
          <p:cNvPr id="74" name="Google Shape;74;p32"/>
          <p:cNvSpPr txBox="1"/>
          <p:nvPr>
            <p:ph type="title"/>
          </p:nvPr>
        </p:nvSpPr>
        <p:spPr>
          <a:xfrm>
            <a:off x="2135550" y="1189100"/>
            <a:ext cx="48729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75" name="Google Shape;75;p32"/>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76" name="Google Shape;76;p32"/>
          <p:cNvGrpSpPr/>
          <p:nvPr/>
        </p:nvGrpSpPr>
        <p:grpSpPr>
          <a:xfrm>
            <a:off x="7717675" y="3429300"/>
            <a:ext cx="1426200" cy="1714200"/>
            <a:chOff x="7717675" y="3429300"/>
            <a:chExt cx="1426200" cy="1714200"/>
          </a:xfrm>
        </p:grpSpPr>
        <p:sp>
          <p:nvSpPr>
            <p:cNvPr id="77" name="Google Shape;77;p32"/>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78" name="Google Shape;78;p32"/>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79" name="Google Shape;79;p32"/>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
        <p:nvSpPr>
          <p:cNvPr id="80" name="Google Shape;80;p32"/>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1pPr>
            <a:lvl2pPr lvl="1"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2pPr>
            <a:lvl3pPr lvl="2"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3pPr>
            <a:lvl4pPr lvl="3"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4pPr>
            <a:lvl5pPr lvl="4"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5pPr>
            <a:lvl6pPr lvl="5"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6pPr>
            <a:lvl7pPr lvl="6"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7pPr>
            <a:lvl8pPr lvl="7"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8pPr>
            <a:lvl9pPr lvl="8" marR="0" rtl="0" algn="l">
              <a:lnSpc>
                <a:spcPct val="100000"/>
              </a:lnSpc>
              <a:spcBef>
                <a:spcPts val="0"/>
              </a:spcBef>
              <a:spcAft>
                <a:spcPts val="0"/>
              </a:spcAft>
              <a:buClr>
                <a:schemeClr val="dk1"/>
              </a:buClr>
              <a:buSzPts val="3000"/>
              <a:buFont typeface="Raleway ExtraBold"/>
              <a:buNone/>
              <a:defRPr b="0" i="0" sz="3000" u="none" cap="none" strike="noStrike">
                <a:solidFill>
                  <a:schemeClr val="dk1"/>
                </a:solidFill>
                <a:latin typeface="Raleway ExtraBold"/>
                <a:ea typeface="Raleway ExtraBold"/>
                <a:cs typeface="Raleway ExtraBold"/>
                <a:sym typeface="Raleway ExtraBold"/>
              </a:defRPr>
            </a:lvl9pPr>
          </a:lstStyle>
          <a:p/>
        </p:txBody>
      </p:sp>
      <p:sp>
        <p:nvSpPr>
          <p:cNvPr id="7" name="Google Shape;7;p2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1pPr>
            <a:lvl2pPr indent="-304800" lvl="1" marL="9144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2pPr>
            <a:lvl3pPr indent="-304800" lvl="2" marL="13716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3pPr>
            <a:lvl4pPr indent="-304800" lvl="3" marL="18288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4pPr>
            <a:lvl5pPr indent="-304800" lvl="4" marL="22860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5pPr>
            <a:lvl6pPr indent="-304800" lvl="5" marL="27432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6pPr>
            <a:lvl7pPr indent="-304800" lvl="6" marL="32004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7pPr>
            <a:lvl8pPr indent="-304800" lvl="7" marL="36576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8pPr>
            <a:lvl9pPr indent="-304800" lvl="8" marL="4114800" marR="0" rtl="0" algn="l">
              <a:lnSpc>
                <a:spcPct val="100000"/>
              </a:lnSpc>
              <a:spcBef>
                <a:spcPts val="0"/>
              </a:spcBef>
              <a:spcAft>
                <a:spcPts val="0"/>
              </a:spcAft>
              <a:buClr>
                <a:schemeClr val="dk1"/>
              </a:buClr>
              <a:buSzPts val="1200"/>
              <a:buFont typeface="Raleway Medium"/>
              <a:buChar char="■"/>
              <a:defRPr b="0" i="0" sz="1200" u="none" cap="none" strike="noStrike">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713225" y="933513"/>
            <a:ext cx="6179065" cy="2082907"/>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a:t>Traffic Light Signal</a:t>
            </a:r>
            <a:br>
              <a:rPr lang="en-US"/>
            </a:br>
            <a:r>
              <a:rPr lang="en-US"/>
              <a:t>Project</a:t>
            </a:r>
            <a:endParaRPr/>
          </a:p>
        </p:txBody>
      </p:sp>
      <p:sp>
        <p:nvSpPr>
          <p:cNvPr id="86" name="Google Shape;86;p1"/>
          <p:cNvSpPr txBox="1"/>
          <p:nvPr>
            <p:ph idx="1" type="subTitle"/>
          </p:nvPr>
        </p:nvSpPr>
        <p:spPr>
          <a:xfrm>
            <a:off x="713225" y="3449750"/>
            <a:ext cx="1449900" cy="4146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US"/>
              <a:t> By Group 08</a:t>
            </a:r>
            <a:endParaRPr/>
          </a:p>
        </p:txBody>
      </p:sp>
      <p:sp>
        <p:nvSpPr>
          <p:cNvPr id="87" name="Google Shape;87;p1"/>
          <p:cNvSpPr/>
          <p:nvPr/>
        </p:nvSpPr>
        <p:spPr>
          <a:xfrm>
            <a:off x="713225" y="7730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descr="A traffic light with a red and yellow light&#10;&#10;Description automatically generated" id="88" name="Google Shape;88;p1"/>
          <p:cNvPicPr preferRelativeResize="0"/>
          <p:nvPr/>
        </p:nvPicPr>
        <p:blipFill rotWithShape="1">
          <a:blip r:embed="rId3">
            <a:alphaModFix/>
          </a:blip>
          <a:srcRect b="0" l="0" r="0" t="0"/>
          <a:stretch/>
        </p:blipFill>
        <p:spPr>
          <a:xfrm>
            <a:off x="6686550" y="0"/>
            <a:ext cx="245745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Team Members</a:t>
            </a:r>
            <a:endParaRPr/>
          </a:p>
        </p:txBody>
      </p:sp>
      <p:sp>
        <p:nvSpPr>
          <p:cNvPr id="94" name="Google Shape;94;p2"/>
          <p:cNvSpPr txBox="1"/>
          <p:nvPr>
            <p:ph idx="2" type="title"/>
          </p:nvPr>
        </p:nvSpPr>
        <p:spPr>
          <a:xfrm>
            <a:off x="720000" y="1615673"/>
            <a:ext cx="734700" cy="73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a:p>
        </p:txBody>
      </p:sp>
      <p:sp>
        <p:nvSpPr>
          <p:cNvPr id="95" name="Google Shape;95;p2"/>
          <p:cNvSpPr txBox="1"/>
          <p:nvPr>
            <p:ph idx="3" type="title"/>
          </p:nvPr>
        </p:nvSpPr>
        <p:spPr>
          <a:xfrm>
            <a:off x="4572000" y="1615673"/>
            <a:ext cx="734700" cy="73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a:p>
        </p:txBody>
      </p:sp>
      <p:sp>
        <p:nvSpPr>
          <p:cNvPr id="96" name="Google Shape;96;p2"/>
          <p:cNvSpPr txBox="1"/>
          <p:nvPr>
            <p:ph idx="4" type="title"/>
          </p:nvPr>
        </p:nvSpPr>
        <p:spPr>
          <a:xfrm>
            <a:off x="720000" y="2706036"/>
            <a:ext cx="734700" cy="73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a:p>
        </p:txBody>
      </p:sp>
      <p:sp>
        <p:nvSpPr>
          <p:cNvPr id="97" name="Google Shape;97;p2"/>
          <p:cNvSpPr txBox="1"/>
          <p:nvPr>
            <p:ph idx="5" type="title"/>
          </p:nvPr>
        </p:nvSpPr>
        <p:spPr>
          <a:xfrm>
            <a:off x="4572000" y="2706036"/>
            <a:ext cx="734700" cy="73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a:p>
        </p:txBody>
      </p:sp>
      <p:sp>
        <p:nvSpPr>
          <p:cNvPr id="98" name="Google Shape;98;p2"/>
          <p:cNvSpPr txBox="1"/>
          <p:nvPr>
            <p:ph idx="6" type="title"/>
          </p:nvPr>
        </p:nvSpPr>
        <p:spPr>
          <a:xfrm>
            <a:off x="720000" y="3796398"/>
            <a:ext cx="734700" cy="73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a:p>
        </p:txBody>
      </p:sp>
      <p:sp>
        <p:nvSpPr>
          <p:cNvPr id="99" name="Google Shape;99;p2"/>
          <p:cNvSpPr txBox="1"/>
          <p:nvPr>
            <p:ph idx="7" type="title"/>
          </p:nvPr>
        </p:nvSpPr>
        <p:spPr>
          <a:xfrm>
            <a:off x="4572000" y="3796398"/>
            <a:ext cx="734700" cy="73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a:p>
        </p:txBody>
      </p:sp>
      <p:sp>
        <p:nvSpPr>
          <p:cNvPr id="100" name="Google Shape;100;p2"/>
          <p:cNvSpPr txBox="1"/>
          <p:nvPr>
            <p:ph idx="1" type="subTitle"/>
          </p:nvPr>
        </p:nvSpPr>
        <p:spPr>
          <a:xfrm>
            <a:off x="1607100" y="1762372"/>
            <a:ext cx="2736300" cy="806369"/>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Raleway"/>
              <a:buNone/>
            </a:pPr>
            <a:r>
              <a:rPr lang="en-US"/>
              <a:t>Ifreet Zareef Hossain</a:t>
            </a:r>
            <a:endParaRPr/>
          </a:p>
          <a:p>
            <a:pPr indent="-304800" lvl="0" marL="457200" rtl="0" algn="l">
              <a:lnSpc>
                <a:spcPct val="100000"/>
              </a:lnSpc>
              <a:spcBef>
                <a:spcPts val="0"/>
              </a:spcBef>
              <a:spcAft>
                <a:spcPts val="0"/>
              </a:spcAft>
              <a:buSzPts val="2400"/>
              <a:buFont typeface="Raleway"/>
              <a:buNone/>
            </a:pPr>
            <a:r>
              <a:rPr lang="en-US"/>
              <a:t>23-53186-3</a:t>
            </a:r>
            <a:endParaRPr/>
          </a:p>
          <a:p>
            <a:pPr indent="-304800" lvl="0" marL="457200" rtl="0" algn="l">
              <a:lnSpc>
                <a:spcPct val="100000"/>
              </a:lnSpc>
              <a:spcBef>
                <a:spcPts val="0"/>
              </a:spcBef>
              <a:spcAft>
                <a:spcPts val="0"/>
              </a:spcAft>
              <a:buSzPts val="2400"/>
              <a:buFont typeface="Raleway"/>
              <a:buNone/>
            </a:pPr>
            <a:r>
              <a:t/>
            </a:r>
            <a:endParaRPr/>
          </a:p>
        </p:txBody>
      </p:sp>
      <p:sp>
        <p:nvSpPr>
          <p:cNvPr id="101" name="Google Shape;101;p2"/>
          <p:cNvSpPr txBox="1"/>
          <p:nvPr>
            <p:ph idx="8" type="subTitle"/>
          </p:nvPr>
        </p:nvSpPr>
        <p:spPr>
          <a:xfrm>
            <a:off x="1607100" y="2852735"/>
            <a:ext cx="2532000" cy="622185"/>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Raleway"/>
              <a:buNone/>
            </a:pPr>
            <a:r>
              <a:rPr lang="en-US"/>
              <a:t>Rifat Intisar Zahin</a:t>
            </a:r>
            <a:endParaRPr/>
          </a:p>
          <a:p>
            <a:pPr indent="-304800" lvl="0" marL="457200" rtl="0" algn="l">
              <a:lnSpc>
                <a:spcPct val="100000"/>
              </a:lnSpc>
              <a:spcBef>
                <a:spcPts val="0"/>
              </a:spcBef>
              <a:spcAft>
                <a:spcPts val="0"/>
              </a:spcAft>
              <a:buSzPts val="2400"/>
              <a:buFont typeface="Raleway"/>
              <a:buNone/>
            </a:pPr>
            <a:r>
              <a:rPr lang="en-US"/>
              <a:t>23-54215-3</a:t>
            </a:r>
            <a:endParaRPr/>
          </a:p>
        </p:txBody>
      </p:sp>
      <p:sp>
        <p:nvSpPr>
          <p:cNvPr id="102" name="Google Shape;102;p2"/>
          <p:cNvSpPr txBox="1"/>
          <p:nvPr>
            <p:ph idx="9" type="subTitle"/>
          </p:nvPr>
        </p:nvSpPr>
        <p:spPr>
          <a:xfrm>
            <a:off x="1607100" y="3943098"/>
            <a:ext cx="2532000" cy="438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Raleway"/>
              <a:buNone/>
            </a:pPr>
            <a:r>
              <a:rPr lang="en-US"/>
              <a:t>Pranzit Datta</a:t>
            </a:r>
            <a:endParaRPr/>
          </a:p>
          <a:p>
            <a:pPr indent="-304800" lvl="0" marL="457200" rtl="0" algn="l">
              <a:lnSpc>
                <a:spcPct val="100000"/>
              </a:lnSpc>
              <a:spcBef>
                <a:spcPts val="0"/>
              </a:spcBef>
              <a:spcAft>
                <a:spcPts val="0"/>
              </a:spcAft>
              <a:buSzPts val="2400"/>
              <a:buFont typeface="Raleway"/>
              <a:buNone/>
            </a:pPr>
            <a:r>
              <a:rPr lang="en-US"/>
              <a:t>23-54225-3</a:t>
            </a:r>
            <a:endParaRPr/>
          </a:p>
        </p:txBody>
      </p:sp>
      <p:sp>
        <p:nvSpPr>
          <p:cNvPr id="103" name="Google Shape;103;p2"/>
          <p:cNvSpPr txBox="1"/>
          <p:nvPr>
            <p:ph idx="13" type="subTitle"/>
          </p:nvPr>
        </p:nvSpPr>
        <p:spPr>
          <a:xfrm>
            <a:off x="5459100" y="1762373"/>
            <a:ext cx="2839080" cy="438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Raleway"/>
              <a:buNone/>
            </a:pPr>
            <a:r>
              <a:rPr lang="en-US"/>
              <a:t>Masum Rahman Atul</a:t>
            </a:r>
            <a:endParaRPr/>
          </a:p>
          <a:p>
            <a:pPr indent="-304800" lvl="0" marL="457200" rtl="0" algn="l">
              <a:lnSpc>
                <a:spcPct val="100000"/>
              </a:lnSpc>
              <a:spcBef>
                <a:spcPts val="0"/>
              </a:spcBef>
              <a:spcAft>
                <a:spcPts val="0"/>
              </a:spcAft>
              <a:buSzPts val="2400"/>
              <a:buFont typeface="Raleway"/>
              <a:buNone/>
            </a:pPr>
            <a:r>
              <a:rPr lang="en-US"/>
              <a:t>23-54245-3</a:t>
            </a:r>
            <a:endParaRPr/>
          </a:p>
          <a:p>
            <a:pPr indent="-304800" lvl="0" marL="457200" rtl="0" algn="l">
              <a:lnSpc>
                <a:spcPct val="100000"/>
              </a:lnSpc>
              <a:spcBef>
                <a:spcPts val="0"/>
              </a:spcBef>
              <a:spcAft>
                <a:spcPts val="0"/>
              </a:spcAft>
              <a:buSzPts val="2400"/>
              <a:buFont typeface="Raleway"/>
              <a:buNone/>
            </a:pPr>
            <a:r>
              <a:rPr lang="en-US"/>
              <a:t> </a:t>
            </a:r>
            <a:endParaRPr/>
          </a:p>
        </p:txBody>
      </p:sp>
      <p:sp>
        <p:nvSpPr>
          <p:cNvPr id="104" name="Google Shape;104;p2"/>
          <p:cNvSpPr txBox="1"/>
          <p:nvPr>
            <p:ph idx="14" type="subTitle"/>
          </p:nvPr>
        </p:nvSpPr>
        <p:spPr>
          <a:xfrm>
            <a:off x="5459100" y="2842790"/>
            <a:ext cx="2532000" cy="438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Raleway"/>
              <a:buNone/>
            </a:pPr>
            <a:r>
              <a:rPr lang="en-US"/>
              <a:t>Raiyan Ahnaf</a:t>
            </a:r>
            <a:endParaRPr/>
          </a:p>
          <a:p>
            <a:pPr indent="-304800" lvl="0" marL="457200" rtl="0" algn="l">
              <a:lnSpc>
                <a:spcPct val="100000"/>
              </a:lnSpc>
              <a:spcBef>
                <a:spcPts val="0"/>
              </a:spcBef>
              <a:spcAft>
                <a:spcPts val="0"/>
              </a:spcAft>
              <a:buSzPts val="2400"/>
              <a:buFont typeface="Raleway"/>
              <a:buNone/>
            </a:pPr>
            <a:r>
              <a:rPr lang="en-US"/>
              <a:t>23-54227-3</a:t>
            </a:r>
            <a:endParaRPr/>
          </a:p>
        </p:txBody>
      </p:sp>
      <p:sp>
        <p:nvSpPr>
          <p:cNvPr id="105" name="Google Shape;105;p2"/>
          <p:cNvSpPr txBox="1"/>
          <p:nvPr>
            <p:ph idx="15" type="subTitle"/>
          </p:nvPr>
        </p:nvSpPr>
        <p:spPr>
          <a:xfrm>
            <a:off x="5459100" y="3943098"/>
            <a:ext cx="2532000" cy="438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Raleway"/>
              <a:buNone/>
            </a:pPr>
            <a:r>
              <a:rPr lang="en-US"/>
              <a:t>Md. Zahid Hasan</a:t>
            </a:r>
            <a:endParaRPr/>
          </a:p>
          <a:p>
            <a:pPr indent="-304800" lvl="0" marL="457200" rtl="0" algn="l">
              <a:lnSpc>
                <a:spcPct val="100000"/>
              </a:lnSpc>
              <a:spcBef>
                <a:spcPts val="0"/>
              </a:spcBef>
              <a:spcAft>
                <a:spcPts val="0"/>
              </a:spcAft>
              <a:buSzPts val="2400"/>
              <a:buFont typeface="Raleway"/>
              <a:buNone/>
            </a:pPr>
            <a:r>
              <a:rPr lang="en-US"/>
              <a:t>23-54242-3</a:t>
            </a:r>
            <a:endParaRPr/>
          </a:p>
          <a:p>
            <a:pPr indent="-304800" lvl="0" marL="457200" rtl="0" algn="l">
              <a:lnSpc>
                <a:spcPct val="100000"/>
              </a:lnSpc>
              <a:spcBef>
                <a:spcPts val="0"/>
              </a:spcBef>
              <a:spcAft>
                <a:spcPts val="0"/>
              </a:spcAft>
              <a:buSzPts val="2400"/>
              <a:buFont typeface="Raleway"/>
              <a:buNone/>
            </a:pPr>
            <a:r>
              <a:t/>
            </a:r>
            <a:endParaRPr/>
          </a:p>
        </p:txBody>
      </p:sp>
      <p:pic>
        <p:nvPicPr>
          <p:cNvPr id="106" name="Google Shape;106;p2"/>
          <p:cNvPicPr preferRelativeResize="0"/>
          <p:nvPr/>
        </p:nvPicPr>
        <p:blipFill rotWithShape="1">
          <a:blip r:embed="rId3">
            <a:alphaModFix/>
          </a:blip>
          <a:srcRect b="0" l="0" r="0" t="0"/>
          <a:stretch/>
        </p:blipFill>
        <p:spPr>
          <a:xfrm>
            <a:off x="684165" y="1597216"/>
            <a:ext cx="806370" cy="806370"/>
          </a:xfrm>
          <a:prstGeom prst="rect">
            <a:avLst/>
          </a:prstGeom>
          <a:noFill/>
          <a:ln>
            <a:noFill/>
          </a:ln>
        </p:spPr>
      </p:pic>
      <p:pic>
        <p:nvPicPr>
          <p:cNvPr id="107" name="Google Shape;107;p2"/>
          <p:cNvPicPr preferRelativeResize="0"/>
          <p:nvPr/>
        </p:nvPicPr>
        <p:blipFill rotWithShape="1">
          <a:blip r:embed="rId3">
            <a:alphaModFix/>
          </a:blip>
          <a:srcRect b="0" l="0" r="0" t="0"/>
          <a:stretch/>
        </p:blipFill>
        <p:spPr>
          <a:xfrm>
            <a:off x="684165" y="2668551"/>
            <a:ext cx="806370" cy="806370"/>
          </a:xfrm>
          <a:prstGeom prst="rect">
            <a:avLst/>
          </a:prstGeom>
          <a:noFill/>
          <a:ln>
            <a:noFill/>
          </a:ln>
        </p:spPr>
      </p:pic>
      <p:pic>
        <p:nvPicPr>
          <p:cNvPr id="108" name="Google Shape;108;p2"/>
          <p:cNvPicPr preferRelativeResize="0"/>
          <p:nvPr/>
        </p:nvPicPr>
        <p:blipFill rotWithShape="1">
          <a:blip r:embed="rId3">
            <a:alphaModFix/>
          </a:blip>
          <a:srcRect b="0" l="0" r="0" t="0"/>
          <a:stretch/>
        </p:blipFill>
        <p:spPr>
          <a:xfrm>
            <a:off x="684165" y="3787184"/>
            <a:ext cx="806370" cy="806370"/>
          </a:xfrm>
          <a:prstGeom prst="rect">
            <a:avLst/>
          </a:prstGeom>
          <a:noFill/>
          <a:ln>
            <a:noFill/>
          </a:ln>
        </p:spPr>
      </p:pic>
      <p:pic>
        <p:nvPicPr>
          <p:cNvPr id="109" name="Google Shape;109;p2"/>
          <p:cNvPicPr preferRelativeResize="0"/>
          <p:nvPr/>
        </p:nvPicPr>
        <p:blipFill rotWithShape="1">
          <a:blip r:embed="rId3">
            <a:alphaModFix/>
          </a:blip>
          <a:srcRect b="0" l="0" r="0" t="0"/>
          <a:stretch/>
        </p:blipFill>
        <p:spPr>
          <a:xfrm>
            <a:off x="4572000" y="1572383"/>
            <a:ext cx="806370" cy="806370"/>
          </a:xfrm>
          <a:prstGeom prst="rect">
            <a:avLst/>
          </a:prstGeom>
          <a:noFill/>
          <a:ln>
            <a:noFill/>
          </a:ln>
        </p:spPr>
      </p:pic>
      <p:pic>
        <p:nvPicPr>
          <p:cNvPr id="110" name="Google Shape;110;p2"/>
          <p:cNvPicPr preferRelativeResize="0"/>
          <p:nvPr/>
        </p:nvPicPr>
        <p:blipFill rotWithShape="1">
          <a:blip r:embed="rId3">
            <a:alphaModFix/>
          </a:blip>
          <a:srcRect b="0" l="0" r="0" t="0"/>
          <a:stretch/>
        </p:blipFill>
        <p:spPr>
          <a:xfrm>
            <a:off x="4536165" y="2658605"/>
            <a:ext cx="806370" cy="806370"/>
          </a:xfrm>
          <a:prstGeom prst="rect">
            <a:avLst/>
          </a:prstGeom>
          <a:noFill/>
          <a:ln>
            <a:noFill/>
          </a:ln>
        </p:spPr>
      </p:pic>
      <p:pic>
        <p:nvPicPr>
          <p:cNvPr id="111" name="Google Shape;111;p2"/>
          <p:cNvPicPr preferRelativeResize="0"/>
          <p:nvPr/>
        </p:nvPicPr>
        <p:blipFill rotWithShape="1">
          <a:blip r:embed="rId3">
            <a:alphaModFix/>
          </a:blip>
          <a:srcRect b="0" l="0" r="0" t="0"/>
          <a:stretch/>
        </p:blipFill>
        <p:spPr>
          <a:xfrm>
            <a:off x="4536165" y="3776507"/>
            <a:ext cx="806370" cy="8063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Table of contents</a:t>
            </a:r>
            <a:endParaRPr/>
          </a:p>
        </p:txBody>
      </p:sp>
      <p:sp>
        <p:nvSpPr>
          <p:cNvPr id="117" name="Google Shape;117;p3"/>
          <p:cNvSpPr txBox="1"/>
          <p:nvPr/>
        </p:nvSpPr>
        <p:spPr>
          <a:xfrm>
            <a:off x="1085760" y="1112200"/>
            <a:ext cx="4572000" cy="37831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Introduction</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Aims and Objectives</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Components Required</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Circuit Diagram</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Working Process</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Applications</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Advantages</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Limitations</a:t>
            </a:r>
            <a:endParaRPr/>
          </a:p>
          <a:p>
            <a:pPr indent="-285750" lvl="0" marL="28575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Raleway Medium"/>
                <a:ea typeface="Raleway Medium"/>
                <a:cs typeface="Raleway Medium"/>
                <a:sym typeface="Raleway Medium"/>
              </a:rPr>
              <a:t>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Introduction</a:t>
            </a:r>
            <a:endParaRPr/>
          </a:p>
        </p:txBody>
      </p:sp>
      <p:sp>
        <p:nvSpPr>
          <p:cNvPr id="123" name="Google Shape;123;p4"/>
          <p:cNvSpPr txBox="1"/>
          <p:nvPr>
            <p:ph idx="1" type="subTitle"/>
          </p:nvPr>
        </p:nvSpPr>
        <p:spPr>
          <a:xfrm>
            <a:off x="720000" y="1492000"/>
            <a:ext cx="7704000" cy="215798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US" sz="1600"/>
              <a:t>Traffic Lights are used to control the vehicular traffic. That’s why traffic lights are mandatory to avoid the traffic jams and accidents. There are three lights in the traffic signal, having different message for the drivers.</a:t>
            </a:r>
            <a:endParaRPr/>
          </a:p>
          <a:p>
            <a:pPr indent="0" lvl="0" marL="0" rtl="0" algn="l">
              <a:lnSpc>
                <a:spcPct val="100000"/>
              </a:lnSpc>
              <a:spcBef>
                <a:spcPts val="0"/>
              </a:spcBef>
              <a:spcAft>
                <a:spcPts val="0"/>
              </a:spcAft>
              <a:buSzPts val="1200"/>
              <a:buNone/>
            </a:pPr>
            <a:r>
              <a:t/>
            </a:r>
            <a:endParaRPr sz="1600"/>
          </a:p>
          <a:p>
            <a:pPr indent="0" lvl="0" marL="0" rtl="0" algn="l">
              <a:lnSpc>
                <a:spcPct val="100000"/>
              </a:lnSpc>
              <a:spcBef>
                <a:spcPts val="0"/>
              </a:spcBef>
              <a:spcAft>
                <a:spcPts val="0"/>
              </a:spcAft>
              <a:buSzPts val="1200"/>
              <a:buNone/>
            </a:pPr>
            <a:r>
              <a:rPr lang="en-US" sz="1600">
                <a:solidFill>
                  <a:srgbClr val="FF0000"/>
                </a:solidFill>
              </a:rPr>
              <a:t>Red light </a:t>
            </a:r>
            <a:r>
              <a:rPr lang="en-US" sz="1600"/>
              <a:t>asks the driver to yield at the intersection, </a:t>
            </a:r>
            <a:r>
              <a:rPr lang="en-US" sz="1600">
                <a:solidFill>
                  <a:srgbClr val="00B050"/>
                </a:solidFill>
              </a:rPr>
              <a:t>green light </a:t>
            </a:r>
            <a:r>
              <a:rPr lang="en-US" sz="1600"/>
              <a:t>gives the driver free license to drive through the intersection whereas the </a:t>
            </a:r>
            <a:r>
              <a:rPr lang="en-US" sz="1600">
                <a:solidFill>
                  <a:srgbClr val="EBE600"/>
                </a:solidFill>
              </a:rPr>
              <a:t>yellow light </a:t>
            </a:r>
            <a:r>
              <a:rPr lang="en-US" sz="1600"/>
              <a:t>alerts the driver to wait if the next light is red one or get ready to go / turn the engine ON if the green light is next.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Aim and Objectives :</a:t>
            </a:r>
            <a:endParaRPr/>
          </a:p>
        </p:txBody>
      </p:sp>
      <p:sp>
        <p:nvSpPr>
          <p:cNvPr id="129" name="Google Shape;129;p5"/>
          <p:cNvSpPr txBox="1"/>
          <p:nvPr>
            <p:ph idx="1" type="subTitle"/>
          </p:nvPr>
        </p:nvSpPr>
        <p:spPr>
          <a:xfrm>
            <a:off x="720000" y="1492000"/>
            <a:ext cx="7804550" cy="2037217"/>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200"/>
              <a:buFont typeface="Noto Sans Symbols"/>
              <a:buChar char="❑"/>
            </a:pPr>
            <a:r>
              <a:rPr lang="en-US" sz="1400"/>
              <a:t>To simulate and analyze the performance of the proposed system under various traffic scenarios.</a:t>
            </a:r>
            <a:endParaRPr/>
          </a:p>
          <a:p>
            <a:pPr indent="-209550" lvl="0" marL="285750" rtl="0" algn="l">
              <a:lnSpc>
                <a:spcPct val="100000"/>
              </a:lnSpc>
              <a:spcBef>
                <a:spcPts val="0"/>
              </a:spcBef>
              <a:spcAft>
                <a:spcPts val="0"/>
              </a:spcAft>
              <a:buSzPts val="1200"/>
              <a:buFont typeface="Noto Sans Symbols"/>
              <a:buNone/>
            </a:pPr>
            <a:r>
              <a:t/>
            </a:r>
            <a:endParaRPr sz="1400"/>
          </a:p>
          <a:p>
            <a:pPr indent="-285750" lvl="0" marL="285750" rtl="0" algn="l">
              <a:lnSpc>
                <a:spcPct val="100000"/>
              </a:lnSpc>
              <a:spcBef>
                <a:spcPts val="0"/>
              </a:spcBef>
              <a:spcAft>
                <a:spcPts val="0"/>
              </a:spcAft>
              <a:buSzPts val="1200"/>
              <a:buFont typeface="Noto Sans Symbols"/>
              <a:buChar char="❑"/>
            </a:pPr>
            <a:r>
              <a:rPr lang="en-US" sz="1400"/>
              <a:t>To implement the system using appropriate hardware and software components.</a:t>
            </a:r>
            <a:endParaRPr/>
          </a:p>
          <a:p>
            <a:pPr indent="-209550" lvl="0" marL="285750" rtl="0" algn="l">
              <a:lnSpc>
                <a:spcPct val="100000"/>
              </a:lnSpc>
              <a:spcBef>
                <a:spcPts val="0"/>
              </a:spcBef>
              <a:spcAft>
                <a:spcPts val="0"/>
              </a:spcAft>
              <a:buSzPts val="1200"/>
              <a:buFont typeface="Noto Sans Symbols"/>
              <a:buNone/>
            </a:pPr>
            <a:r>
              <a:t/>
            </a:r>
            <a:endParaRPr sz="1400"/>
          </a:p>
          <a:p>
            <a:pPr indent="-285750" lvl="0" marL="285750" rtl="0" algn="l">
              <a:lnSpc>
                <a:spcPct val="100000"/>
              </a:lnSpc>
              <a:spcBef>
                <a:spcPts val="0"/>
              </a:spcBef>
              <a:spcAft>
                <a:spcPts val="0"/>
              </a:spcAft>
              <a:buSzPts val="1200"/>
              <a:buFont typeface="Noto Sans Symbols"/>
              <a:buChar char="❑"/>
            </a:pPr>
            <a:r>
              <a:rPr lang="en-US" sz="1400"/>
              <a:t>To analyze the effectiveness of the implemented system in reducing traffic congestion and minimizing wait times at intersections.</a:t>
            </a:r>
            <a:endParaRPr/>
          </a:p>
          <a:p>
            <a:pPr indent="-209550" lvl="0" marL="285750" rtl="0" algn="l">
              <a:lnSpc>
                <a:spcPct val="100000"/>
              </a:lnSpc>
              <a:spcBef>
                <a:spcPts val="0"/>
              </a:spcBef>
              <a:spcAft>
                <a:spcPts val="0"/>
              </a:spcAft>
              <a:buSzPts val="1200"/>
              <a:buFont typeface="Noto Sans Symbols"/>
              <a:buNone/>
            </a:pPr>
            <a:r>
              <a:t/>
            </a:r>
            <a:endParaRPr sz="1400"/>
          </a:p>
          <a:p>
            <a:pPr indent="-285750" lvl="0" marL="285750" rtl="0" algn="l">
              <a:lnSpc>
                <a:spcPct val="100000"/>
              </a:lnSpc>
              <a:spcBef>
                <a:spcPts val="0"/>
              </a:spcBef>
              <a:spcAft>
                <a:spcPts val="0"/>
              </a:spcAft>
              <a:buSzPts val="1200"/>
              <a:buFont typeface="Noto Sans Symbols"/>
              <a:buChar char="❑"/>
            </a:pPr>
            <a:r>
              <a:rPr lang="en-US" sz="1400"/>
              <a:t>To improve road safety by minimizing the risk of accidents caused by human error or misjudgment.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p:nvPr>
            <p:ph idx="2" type="pic"/>
          </p:nvPr>
        </p:nvSpPr>
        <p:spPr>
          <a:xfrm>
            <a:off x="0" y="0"/>
            <a:ext cx="9144000" cy="5143500"/>
          </a:xfrm>
          <a:prstGeom prst="rect">
            <a:avLst/>
          </a:prstGeom>
          <a:noFill/>
          <a:ln>
            <a:noFill/>
          </a:ln>
        </p:spPr>
      </p:sp>
      <p:sp>
        <p:nvSpPr>
          <p:cNvPr id="135" name="Google Shape;135;p6"/>
          <p:cNvSpPr txBox="1"/>
          <p:nvPr>
            <p:ph type="title"/>
          </p:nvPr>
        </p:nvSpPr>
        <p:spPr>
          <a:xfrm>
            <a:off x="720000" y="4014450"/>
            <a:ext cx="7704000" cy="5727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t>Survey:</a:t>
            </a:r>
            <a:endParaRPr/>
          </a:p>
        </p:txBody>
      </p:sp>
      <p:pic>
        <p:nvPicPr>
          <p:cNvPr descr="Forms response chart. Question title: 1. To what extent do you believe the traffic light circuit project contributes to promoting awareness about sustainable transportation practices in our community?. Number of responses: 46 responses." id="136" name="Google Shape;136;p6"/>
          <p:cNvPicPr preferRelativeResize="0"/>
          <p:nvPr/>
        </p:nvPicPr>
        <p:blipFill rotWithShape="1">
          <a:blip r:embed="rId3">
            <a:alphaModFix/>
          </a:blip>
          <a:srcRect b="0" l="0" r="0" t="0"/>
          <a:stretch/>
        </p:blipFill>
        <p:spPr>
          <a:xfrm>
            <a:off x="0" y="0"/>
            <a:ext cx="4372020" cy="4014450"/>
          </a:xfrm>
          <a:prstGeom prst="rect">
            <a:avLst/>
          </a:prstGeom>
          <a:noFill/>
          <a:ln>
            <a:noFill/>
          </a:ln>
        </p:spPr>
      </p:pic>
      <p:pic>
        <p:nvPicPr>
          <p:cNvPr descr="Forms response chart. Question title: 3. How much do you feel the traffic light circuit project aligns with our commitment to preserving and respecting the natural environment?&#10;. Number of responses: 46 responses." id="137" name="Google Shape;137;p6"/>
          <p:cNvPicPr preferRelativeResize="0"/>
          <p:nvPr/>
        </p:nvPicPr>
        <p:blipFill rotWithShape="1">
          <a:blip r:embed="rId4">
            <a:alphaModFix/>
          </a:blip>
          <a:srcRect b="0" l="0" r="0" t="0"/>
          <a:stretch/>
        </p:blipFill>
        <p:spPr>
          <a:xfrm>
            <a:off x="4411980" y="0"/>
            <a:ext cx="4372020" cy="4014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Forms response chart. Question title: 10. How much do you think the traffic light circuit project reflects our commitment to fostering a safer and more efficient transportation infrastructure for all members of the community?&#10;. Number of responses: 46 responses." id="142" name="Google Shape;142;p7"/>
          <p:cNvPicPr preferRelativeResize="0"/>
          <p:nvPr/>
        </p:nvPicPr>
        <p:blipFill rotWithShape="1">
          <a:blip r:embed="rId3">
            <a:alphaModFix/>
          </a:blip>
          <a:srcRect b="0" l="0" r="0" t="0"/>
          <a:stretch/>
        </p:blipFill>
        <p:spPr>
          <a:xfrm>
            <a:off x="4423410" y="1794510"/>
            <a:ext cx="4594860" cy="3179127"/>
          </a:xfrm>
          <a:prstGeom prst="rect">
            <a:avLst/>
          </a:prstGeom>
          <a:noFill/>
          <a:ln>
            <a:noFill/>
          </a:ln>
        </p:spPr>
      </p:pic>
      <p:pic>
        <p:nvPicPr>
          <p:cNvPr descr="Forms response chart. Question title: 7. How much do you feel the traffic light circuit project fosters collaboration and interdisciplinary learning among students, engineers, and community stakeholders?&#10;. Number of responses: 46 responses." id="143" name="Google Shape;143;p7"/>
          <p:cNvPicPr preferRelativeResize="0"/>
          <p:nvPr/>
        </p:nvPicPr>
        <p:blipFill rotWithShape="1">
          <a:blip r:embed="rId4">
            <a:alphaModFix/>
          </a:blip>
          <a:srcRect b="0" l="0" r="0" t="0"/>
          <a:stretch/>
        </p:blipFill>
        <p:spPr>
          <a:xfrm>
            <a:off x="761047" y="0"/>
            <a:ext cx="3662363" cy="2308860"/>
          </a:xfrm>
          <a:prstGeom prst="rect">
            <a:avLst/>
          </a:prstGeom>
          <a:noFill/>
          <a:ln>
            <a:noFill/>
          </a:ln>
        </p:spPr>
      </p:pic>
      <p:pic>
        <p:nvPicPr>
          <p:cNvPr descr="Forms response chart. Question title: 6. Do you think the traffic light circuit project enhances our understanding of the cultural significance of traffic management systems in different regions?&#10;. Number of responses: 46 responses." id="144" name="Google Shape;144;p7"/>
          <p:cNvPicPr preferRelativeResize="0"/>
          <p:nvPr/>
        </p:nvPicPr>
        <p:blipFill rotWithShape="1">
          <a:blip r:embed="rId5">
            <a:alphaModFix/>
          </a:blip>
          <a:srcRect b="0" l="0" r="0" t="0"/>
          <a:stretch/>
        </p:blipFill>
        <p:spPr>
          <a:xfrm>
            <a:off x="761046" y="2400300"/>
            <a:ext cx="3376613" cy="2637790"/>
          </a:xfrm>
          <a:prstGeom prst="rect">
            <a:avLst/>
          </a:prstGeom>
          <a:noFill/>
          <a:ln>
            <a:noFill/>
          </a:ln>
        </p:spPr>
      </p:pic>
      <p:pic>
        <p:nvPicPr>
          <p:cNvPr descr="Forms response chart. Question title: 9. To what extent do you believe the traffic light circuit project addresses the needs and challenges faced by specific target groups, such as pedestrians, cyclists, or motorists?&#10;. Number of responses: 46 responses." id="145" name="Google Shape;145;p7"/>
          <p:cNvPicPr preferRelativeResize="0"/>
          <p:nvPr/>
        </p:nvPicPr>
        <p:blipFill rotWithShape="1">
          <a:blip r:embed="rId6">
            <a:alphaModFix/>
          </a:blip>
          <a:srcRect b="0" l="0" r="0" t="0"/>
          <a:stretch/>
        </p:blipFill>
        <p:spPr>
          <a:xfrm>
            <a:off x="4423410" y="43180"/>
            <a:ext cx="4418330" cy="188849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PROJECT TIMELINE (GANTT CHART):</a:t>
            </a:r>
            <a:endParaRPr/>
          </a:p>
        </p:txBody>
      </p:sp>
      <p:sp>
        <p:nvSpPr>
          <p:cNvPr id="151" name="Google Shape;151;p8"/>
          <p:cNvSpPr txBox="1"/>
          <p:nvPr>
            <p:ph idx="1" type="subTitle"/>
          </p:nvPr>
        </p:nvSpPr>
        <p:spPr>
          <a:xfrm>
            <a:off x="720000" y="1492000"/>
            <a:ext cx="7804550" cy="2037217"/>
          </a:xfrm>
          <a:prstGeom prst="rect">
            <a:avLst/>
          </a:prstGeom>
          <a:noFill/>
          <a:ln>
            <a:noFill/>
          </a:ln>
        </p:spPr>
        <p:txBody>
          <a:bodyPr anchorCtr="0" anchor="t" bIns="91425" lIns="91425" spcFirstLastPara="1" rIns="91425" wrap="square" tIns="91425">
            <a:noAutofit/>
          </a:bodyPr>
          <a:lstStyle/>
          <a:p>
            <a:pPr indent="-209550" lvl="0" marL="285750" rtl="0" algn="l">
              <a:lnSpc>
                <a:spcPct val="100000"/>
              </a:lnSpc>
              <a:spcBef>
                <a:spcPts val="0"/>
              </a:spcBef>
              <a:spcAft>
                <a:spcPts val="0"/>
              </a:spcAft>
              <a:buSzPts val="1200"/>
              <a:buFont typeface="Noto Sans Symbols"/>
              <a:buNone/>
            </a:pPr>
            <a:r>
              <a:t/>
            </a:r>
            <a:endParaRPr sz="1400"/>
          </a:p>
        </p:txBody>
      </p:sp>
      <p:pic>
        <p:nvPicPr>
          <p:cNvPr id="152" name="Google Shape;152;p8"/>
          <p:cNvPicPr preferRelativeResize="0"/>
          <p:nvPr/>
        </p:nvPicPr>
        <p:blipFill rotWithShape="1">
          <a:blip r:embed="rId3">
            <a:alphaModFix/>
          </a:blip>
          <a:srcRect b="0" l="0" r="0" t="0"/>
          <a:stretch/>
        </p:blipFill>
        <p:spPr>
          <a:xfrm>
            <a:off x="537210" y="1428750"/>
            <a:ext cx="8103870" cy="3175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9"/>
          <p:cNvPicPr preferRelativeResize="0"/>
          <p:nvPr/>
        </p:nvPicPr>
        <p:blipFill rotWithShape="1">
          <a:blip r:embed="rId3">
            <a:alphaModFix/>
          </a:blip>
          <a:srcRect b="0" l="0" r="0" t="0"/>
          <a:stretch/>
        </p:blipFill>
        <p:spPr>
          <a:xfrm>
            <a:off x="708660" y="514350"/>
            <a:ext cx="7703820" cy="4343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Components Required :</a:t>
            </a:r>
            <a:endParaRPr/>
          </a:p>
        </p:txBody>
      </p:sp>
      <p:sp>
        <p:nvSpPr>
          <p:cNvPr id="163" name="Google Shape;163;p10"/>
          <p:cNvSpPr txBox="1"/>
          <p:nvPr>
            <p:ph idx="2" type="subTitle"/>
          </p:nvPr>
        </p:nvSpPr>
        <p:spPr>
          <a:xfrm>
            <a:off x="802330" y="1180781"/>
            <a:ext cx="2988528" cy="3124520"/>
          </a:xfrm>
          <a:prstGeom prst="rect">
            <a:avLst/>
          </a:prstGeom>
          <a:noFill/>
          <a:ln>
            <a:noFill/>
          </a:ln>
        </p:spPr>
        <p:txBody>
          <a:bodyPr anchorCtr="0" anchor="t" bIns="91425" lIns="91425" spcFirstLastPara="1" rIns="91425" wrap="square" tIns="91425">
            <a:noAutofit/>
          </a:bodyPr>
          <a:lstStyle/>
          <a:p>
            <a:pPr indent="-285750" lvl="0" marL="285750" rtl="0" algn="l">
              <a:lnSpc>
                <a:spcPct val="150000"/>
              </a:lnSpc>
              <a:spcBef>
                <a:spcPts val="0"/>
              </a:spcBef>
              <a:spcAft>
                <a:spcPts val="0"/>
              </a:spcAft>
              <a:buSzPts val="1200"/>
              <a:buFont typeface="Noto Sans Symbols"/>
              <a:buChar char="❑"/>
            </a:pPr>
            <a:r>
              <a:rPr lang="en-US" sz="1600"/>
              <a:t>555 Timer IC 2x</a:t>
            </a:r>
            <a:endParaRPr/>
          </a:p>
          <a:p>
            <a:pPr indent="-285750" lvl="0" marL="285750" rtl="0" algn="l">
              <a:lnSpc>
                <a:spcPct val="150000"/>
              </a:lnSpc>
              <a:spcBef>
                <a:spcPts val="0"/>
              </a:spcBef>
              <a:spcAft>
                <a:spcPts val="0"/>
              </a:spcAft>
              <a:buSzPts val="1200"/>
              <a:buFont typeface="Noto Sans Symbols"/>
              <a:buChar char="❑"/>
            </a:pPr>
            <a:r>
              <a:rPr lang="en-US" sz="1600"/>
              <a:t>100uf Capacitor 2x</a:t>
            </a:r>
            <a:endParaRPr/>
          </a:p>
          <a:p>
            <a:pPr indent="-285750" lvl="0" marL="285750" rtl="0" algn="l">
              <a:lnSpc>
                <a:spcPct val="150000"/>
              </a:lnSpc>
              <a:spcBef>
                <a:spcPts val="0"/>
              </a:spcBef>
              <a:spcAft>
                <a:spcPts val="0"/>
              </a:spcAft>
              <a:buSzPts val="1200"/>
              <a:buFont typeface="Noto Sans Symbols"/>
              <a:buChar char="❑"/>
            </a:pPr>
            <a:r>
              <a:rPr lang="en-US" sz="1600"/>
              <a:t>100k Resistor</a:t>
            </a:r>
            <a:endParaRPr/>
          </a:p>
          <a:p>
            <a:pPr indent="-285750" lvl="0" marL="285750" rtl="0" algn="l">
              <a:lnSpc>
                <a:spcPct val="150000"/>
              </a:lnSpc>
              <a:spcBef>
                <a:spcPts val="0"/>
              </a:spcBef>
              <a:spcAft>
                <a:spcPts val="0"/>
              </a:spcAft>
              <a:buSzPts val="1200"/>
              <a:buFont typeface="Noto Sans Symbols"/>
              <a:buChar char="❑"/>
            </a:pPr>
            <a:r>
              <a:rPr lang="en-US" sz="1600"/>
              <a:t>47k Resistor</a:t>
            </a:r>
            <a:endParaRPr/>
          </a:p>
          <a:p>
            <a:pPr indent="-285750" lvl="0" marL="285750" rtl="0" algn="l">
              <a:lnSpc>
                <a:spcPct val="150000"/>
              </a:lnSpc>
              <a:spcBef>
                <a:spcPts val="0"/>
              </a:spcBef>
              <a:spcAft>
                <a:spcPts val="0"/>
              </a:spcAft>
              <a:buSzPts val="1200"/>
              <a:buFont typeface="Noto Sans Symbols"/>
              <a:buChar char="❑"/>
            </a:pPr>
            <a:r>
              <a:rPr lang="en-US" sz="1600"/>
              <a:t>390 Ohms Resistor 2x</a:t>
            </a:r>
            <a:endParaRPr/>
          </a:p>
          <a:p>
            <a:pPr indent="-285750" lvl="0" marL="285750" rtl="0" algn="l">
              <a:lnSpc>
                <a:spcPct val="150000"/>
              </a:lnSpc>
              <a:spcBef>
                <a:spcPts val="0"/>
              </a:spcBef>
              <a:spcAft>
                <a:spcPts val="0"/>
              </a:spcAft>
              <a:buSzPts val="1200"/>
              <a:buFont typeface="Noto Sans Symbols"/>
              <a:buChar char="❑"/>
            </a:pPr>
            <a:r>
              <a:rPr lang="en-US" sz="1600"/>
              <a:t>33 Ohms Resistor</a:t>
            </a:r>
            <a:endParaRPr/>
          </a:p>
          <a:p>
            <a:pPr indent="-285750" lvl="0" marL="285750" rtl="0" algn="l">
              <a:lnSpc>
                <a:spcPct val="150000"/>
              </a:lnSpc>
              <a:spcBef>
                <a:spcPts val="0"/>
              </a:spcBef>
              <a:spcAft>
                <a:spcPts val="0"/>
              </a:spcAft>
              <a:buSzPts val="1200"/>
              <a:buFont typeface="Noto Sans Symbols"/>
              <a:buChar char="❑"/>
            </a:pPr>
            <a:r>
              <a:rPr lang="en-US" sz="1600"/>
              <a:t>Breadboard</a:t>
            </a:r>
            <a:endParaRPr/>
          </a:p>
          <a:p>
            <a:pPr indent="-285750" lvl="0" marL="285750" rtl="0" algn="l">
              <a:lnSpc>
                <a:spcPct val="150000"/>
              </a:lnSpc>
              <a:spcBef>
                <a:spcPts val="0"/>
              </a:spcBef>
              <a:spcAft>
                <a:spcPts val="0"/>
              </a:spcAft>
              <a:buSzPts val="1200"/>
              <a:buFont typeface="Noto Sans Symbols"/>
              <a:buChar char="❑"/>
            </a:pPr>
            <a:r>
              <a:rPr lang="en-US" sz="1600"/>
              <a:t>Connecting Wires</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Pin Diagram of IC 555 :</a:t>
            </a:r>
            <a:endParaRPr/>
          </a:p>
        </p:txBody>
      </p:sp>
      <p:pic>
        <p:nvPicPr>
          <p:cNvPr id="169" name="Google Shape;169;p11"/>
          <p:cNvPicPr preferRelativeResize="0"/>
          <p:nvPr/>
        </p:nvPicPr>
        <p:blipFill rotWithShape="1">
          <a:blip r:embed="rId3">
            <a:alphaModFix/>
          </a:blip>
          <a:srcRect b="0" l="0" r="0" t="0"/>
          <a:stretch/>
        </p:blipFill>
        <p:spPr>
          <a:xfrm>
            <a:off x="2133600" y="1395730"/>
            <a:ext cx="4876800" cy="2819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Pin Description of IC 555 :</a:t>
            </a:r>
            <a:endParaRPr/>
          </a:p>
        </p:txBody>
      </p:sp>
      <p:sp>
        <p:nvSpPr>
          <p:cNvPr id="175" name="Google Shape;175;p12"/>
          <p:cNvSpPr txBox="1"/>
          <p:nvPr/>
        </p:nvSpPr>
        <p:spPr>
          <a:xfrm>
            <a:off x="802329" y="1112201"/>
            <a:ext cx="7621671" cy="35741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1 (Ground).</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2 (Trigger).</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3 (Output).</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4 (Reset).</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5 (Control).</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6 (Threshold).</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7 (Output).</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Pin 8 (Supply).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Circuit Diagram :</a:t>
            </a:r>
            <a:endParaRPr/>
          </a:p>
        </p:txBody>
      </p:sp>
      <p:pic>
        <p:nvPicPr>
          <p:cNvPr id="181" name="Google Shape;181;p13"/>
          <p:cNvPicPr preferRelativeResize="0"/>
          <p:nvPr/>
        </p:nvPicPr>
        <p:blipFill rotWithShape="1">
          <a:blip r:embed="rId3">
            <a:alphaModFix/>
          </a:blip>
          <a:srcRect b="0" l="0" r="0" t="0"/>
          <a:stretch/>
        </p:blipFill>
        <p:spPr>
          <a:xfrm>
            <a:off x="1597770" y="1287780"/>
            <a:ext cx="5948459" cy="31225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Working Process :</a:t>
            </a:r>
            <a:endParaRPr/>
          </a:p>
        </p:txBody>
      </p:sp>
      <p:sp>
        <p:nvSpPr>
          <p:cNvPr id="187" name="Google Shape;187;p14"/>
          <p:cNvSpPr txBox="1"/>
          <p:nvPr>
            <p:ph idx="1" type="subTitle"/>
          </p:nvPr>
        </p:nvSpPr>
        <p:spPr>
          <a:xfrm>
            <a:off x="720000" y="1216278"/>
            <a:ext cx="7804550" cy="320834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US" sz="1400">
                <a:solidFill>
                  <a:srgbClr val="FF0000"/>
                </a:solidFill>
              </a:rPr>
              <a:t>Red Light</a:t>
            </a:r>
            <a:endParaRPr/>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US" sz="1400"/>
              <a:t>The first 555 timer is configured in astable mode. The 100k resistor and 100uF capacitor on this timer determine the duration of the red light phase. When the circuit is powered on, the output of the first 555 timer is initially high, turning on the red LED through the 330 Ohm resistor.</a:t>
            </a:r>
            <a:endParaRPr/>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b="1" lang="en-US" sz="1400">
                <a:solidFill>
                  <a:srgbClr val="EBE600"/>
                </a:solidFill>
              </a:rPr>
              <a:t>Yellow Light</a:t>
            </a:r>
            <a:endParaRPr/>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US" sz="1400"/>
              <a:t>The second 555 timer is also configured in astable mode. The 47k resistor and 100uF capacitor on this timer determine the duration of the yellow light phase. When the capacitor of the first 555 timer reaches a specific voltage level, its output goes low, turning off the red LED. This triggers the second 555 timer, turning on the yellow LED through one of the 390 Ohm resistors.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Working Process :</a:t>
            </a:r>
            <a:endParaRPr/>
          </a:p>
        </p:txBody>
      </p:sp>
      <p:sp>
        <p:nvSpPr>
          <p:cNvPr id="193" name="Google Shape;193;p15"/>
          <p:cNvSpPr txBox="1"/>
          <p:nvPr>
            <p:ph idx="1" type="subTitle"/>
          </p:nvPr>
        </p:nvSpPr>
        <p:spPr>
          <a:xfrm>
            <a:off x="720000" y="1216278"/>
            <a:ext cx="7804550" cy="236698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US" sz="1400">
                <a:solidFill>
                  <a:srgbClr val="00B050"/>
                </a:solidFill>
              </a:rPr>
              <a:t>Green Light</a:t>
            </a:r>
            <a:endParaRPr sz="1400">
              <a:solidFill>
                <a:srgbClr val="00B050"/>
              </a:solidFill>
            </a:endParaRPr>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US" sz="1400"/>
              <a:t>As the capacitor of the second 555 timer charges, its output eventually goes high.</a:t>
            </a:r>
            <a:endParaRPr/>
          </a:p>
          <a:p>
            <a:pPr indent="0" lvl="0" marL="0" rtl="0" algn="l">
              <a:lnSpc>
                <a:spcPct val="100000"/>
              </a:lnSpc>
              <a:spcBef>
                <a:spcPts val="0"/>
              </a:spcBef>
              <a:spcAft>
                <a:spcPts val="0"/>
              </a:spcAft>
              <a:buSzPts val="1200"/>
              <a:buNone/>
            </a:pPr>
            <a:r>
              <a:rPr lang="en-US" sz="1400"/>
              <a:t>This turns on the green LED through the other 390 Ohm resistor.</a:t>
            </a:r>
            <a:endParaRPr/>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b="1" lang="en-US" sz="1400"/>
              <a:t>Cycle Repeats :</a:t>
            </a:r>
            <a:endParaRPr/>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US" sz="1400"/>
              <a:t>The process repeats continuously, with the red, yellow, and green lights turning on and off in sequence based on the timing set by the resistors and capacitors.</a:t>
            </a:r>
            <a:endParaRPr/>
          </a:p>
          <a:p>
            <a:pPr indent="0" lvl="0" marL="0" rtl="0" algn="l">
              <a:lnSpc>
                <a:spcPct val="100000"/>
              </a:lnSpc>
              <a:spcBef>
                <a:spcPts val="0"/>
              </a:spcBef>
              <a:spcAft>
                <a:spcPts val="0"/>
              </a:spcAft>
              <a:buSzPts val="1200"/>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descr="A circuit board with wires and a green light&#10;&#10;Description automatically generated" id="198" name="Google Shape;198;p16"/>
          <p:cNvPicPr preferRelativeResize="0"/>
          <p:nvPr/>
        </p:nvPicPr>
        <p:blipFill rotWithShape="1">
          <a:blip r:embed="rId3">
            <a:alphaModFix/>
          </a:blip>
          <a:srcRect b="0" l="0" r="0" t="0"/>
          <a:stretch/>
        </p:blipFill>
        <p:spPr>
          <a:xfrm rot="-5400000">
            <a:off x="2000249" y="-2000251"/>
            <a:ext cx="5143502" cy="9144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17"/>
          <p:cNvPicPr preferRelativeResize="0"/>
          <p:nvPr/>
        </p:nvPicPr>
        <p:blipFill rotWithShape="1">
          <a:blip r:embed="rId3">
            <a:alphaModFix/>
          </a:blip>
          <a:srcRect b="0" l="0" r="0" t="0"/>
          <a:stretch/>
        </p:blipFill>
        <p:spPr>
          <a:xfrm rot="-5400000">
            <a:off x="2000249" y="-2000251"/>
            <a:ext cx="5143502" cy="914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18"/>
          <p:cNvPicPr preferRelativeResize="0"/>
          <p:nvPr/>
        </p:nvPicPr>
        <p:blipFill rotWithShape="1">
          <a:blip r:embed="rId3">
            <a:alphaModFix/>
          </a:blip>
          <a:srcRect b="0" l="0" r="0" t="0"/>
          <a:stretch/>
        </p:blipFill>
        <p:spPr>
          <a:xfrm rot="-5400000">
            <a:off x="2000250" y="-2000252"/>
            <a:ext cx="5143499" cy="914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Applications :</a:t>
            </a:r>
            <a:endParaRPr/>
          </a:p>
        </p:txBody>
      </p:sp>
      <p:sp>
        <p:nvSpPr>
          <p:cNvPr id="214" name="Google Shape;214;p19"/>
          <p:cNvSpPr txBox="1"/>
          <p:nvPr/>
        </p:nvSpPr>
        <p:spPr>
          <a:xfrm>
            <a:off x="720000" y="1317097"/>
            <a:ext cx="6349873" cy="2509305"/>
          </a:xfrm>
          <a:prstGeom prst="rect">
            <a:avLst/>
          </a:prstGeom>
          <a:noFill/>
          <a:ln>
            <a:noFill/>
          </a:ln>
        </p:spPr>
        <p:txBody>
          <a:bodyPr anchorCtr="0" anchor="t"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Ramp metering.</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Timers.</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Fire station or Medical emergency entrance.</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At the entrance and exit of some car washes.</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At the landing-stage of a ferry and abroad the ferry.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Advantages :</a:t>
            </a:r>
            <a:endParaRPr/>
          </a:p>
        </p:txBody>
      </p:sp>
      <p:sp>
        <p:nvSpPr>
          <p:cNvPr id="220" name="Google Shape;220;p20"/>
          <p:cNvSpPr txBox="1"/>
          <p:nvPr/>
        </p:nvSpPr>
        <p:spPr>
          <a:xfrm>
            <a:off x="720001" y="1317097"/>
            <a:ext cx="5576722" cy="2509305"/>
          </a:xfrm>
          <a:prstGeom prst="rect">
            <a:avLst/>
          </a:prstGeom>
          <a:noFill/>
          <a:ln>
            <a:noFill/>
          </a:ln>
        </p:spPr>
        <p:txBody>
          <a:bodyPr anchorCtr="0" anchor="t"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Reduce fuel consumption.</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Improve traffic guidance and traffic flow.</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Increase safety.</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Less cost.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Limitations :</a:t>
            </a:r>
            <a:endParaRPr/>
          </a:p>
        </p:txBody>
      </p:sp>
      <p:sp>
        <p:nvSpPr>
          <p:cNvPr id="226" name="Google Shape;226;p21"/>
          <p:cNvSpPr txBox="1"/>
          <p:nvPr/>
        </p:nvSpPr>
        <p:spPr>
          <a:xfrm>
            <a:off x="720001" y="1317097"/>
            <a:ext cx="6201190" cy="2509305"/>
          </a:xfrm>
          <a:prstGeom prst="rect">
            <a:avLst/>
          </a:prstGeom>
          <a:noFill/>
          <a:ln>
            <a:noFill/>
          </a:ln>
        </p:spPr>
        <p:txBody>
          <a:bodyPr anchorCtr="0" anchor="t"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Excessive delay may be caused.</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Disobedience of signals.</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The unnecessary delay results in significant fuel waste and higher motorist cost.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2"/>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Conclusion :</a:t>
            </a:r>
            <a:endParaRPr/>
          </a:p>
        </p:txBody>
      </p:sp>
      <p:sp>
        <p:nvSpPr>
          <p:cNvPr id="232" name="Google Shape;232;p22"/>
          <p:cNvSpPr txBox="1"/>
          <p:nvPr/>
        </p:nvSpPr>
        <p:spPr>
          <a:xfrm>
            <a:off x="720000" y="1317097"/>
            <a:ext cx="5836917" cy="1827547"/>
          </a:xfrm>
          <a:prstGeom prst="rect">
            <a:avLst/>
          </a:prstGeom>
          <a:noFill/>
          <a:ln>
            <a:noFill/>
          </a:ln>
        </p:spPr>
        <p:txBody>
          <a:bodyPr anchorCtr="0" anchor="t"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We can increase the efficiency by using microprocessors (8086).</a:t>
            </a:r>
            <a:endParaRPr/>
          </a:p>
          <a:p>
            <a:pPr indent="-285750" lvl="0" marL="285750" marR="0" rtl="0" algn="l">
              <a:lnSpc>
                <a:spcPct val="150000"/>
              </a:lnSpc>
              <a:spcBef>
                <a:spcPts val="0"/>
              </a:spcBef>
              <a:spcAft>
                <a:spcPts val="0"/>
              </a:spcAft>
              <a:buClr>
                <a:schemeClr val="dk1"/>
              </a:buClr>
              <a:buSzPts val="1200"/>
              <a:buFont typeface="Noto Sans Symbols"/>
              <a:buChar char="❑"/>
            </a:pPr>
            <a:r>
              <a:rPr b="0" i="0" lang="en-US" sz="1800" u="none" cap="none" strike="noStrike">
                <a:solidFill>
                  <a:schemeClr val="dk1"/>
                </a:solidFill>
                <a:latin typeface="Raleway Medium"/>
                <a:ea typeface="Raleway Medium"/>
                <a:cs typeface="Raleway Medium"/>
                <a:sym typeface="Raleway Medium"/>
              </a:rPr>
              <a:t>We can use this as remote traffic controller. </a:t>
            </a:r>
            <a:endParaRPr/>
          </a:p>
        </p:txBody>
      </p:sp>
      <p:pic>
        <p:nvPicPr>
          <p:cNvPr descr="A red traffic light with a smiley face on it&#10;&#10;Description automatically generated" id="233" name="Google Shape;233;p22"/>
          <p:cNvPicPr preferRelativeResize="0"/>
          <p:nvPr/>
        </p:nvPicPr>
        <p:blipFill rotWithShape="1">
          <a:blip r:embed="rId3">
            <a:alphaModFix/>
          </a:blip>
          <a:srcRect b="0" l="0" r="0" t="0"/>
          <a:stretch/>
        </p:blipFill>
        <p:spPr>
          <a:xfrm>
            <a:off x="5829300" y="403323"/>
            <a:ext cx="3234690" cy="38257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C3C3C3"/>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